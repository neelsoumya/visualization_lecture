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4"/>
  </p:normalViewPr>
  <p:slideViewPr>
    <p:cSldViewPr snapToGrid="0" snapToObjects="1">
      <p:cViewPr varScale="1">
        <p:scale>
          <a:sx n="108" d="100"/>
          <a:sy n="108" d="100"/>
        </p:scale>
        <p:origin x="5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ionalgeographic.com/adventure/article/151016-data-points-alberto-cairo-interview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ionalgeographic.com/adventure/article/151016-data-points-alberto-cairo-interview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5D1F2F-0E36-406A-8FD8-6064266FF1EB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5D18B4A-9519-4E76-9477-D487400EDC9A}">
      <dgm:prSet/>
      <dgm:spPr/>
      <dgm:t>
        <a:bodyPr/>
        <a:lstStyle/>
        <a:p>
          <a:r>
            <a:rPr lang="en-US"/>
            <a:t>Reading: 'Data Storytelling: The Essential Data Science Skill' — Brent Dykes (Forbes)</a:t>
          </a:r>
        </a:p>
      </dgm:t>
    </dgm:pt>
    <dgm:pt modelId="{30A829C7-A125-4D7D-AAEE-EF1B23F92454}" type="parTrans" cxnId="{03145F3F-5C21-4BC4-AA18-8D9008440BAB}">
      <dgm:prSet/>
      <dgm:spPr/>
      <dgm:t>
        <a:bodyPr/>
        <a:lstStyle/>
        <a:p>
          <a:endParaRPr lang="en-US"/>
        </a:p>
      </dgm:t>
    </dgm:pt>
    <dgm:pt modelId="{1D7B3BDE-474E-4281-80FD-22A0FE001555}" type="sibTrans" cxnId="{03145F3F-5C21-4BC4-AA18-8D9008440BAB}">
      <dgm:prSet/>
      <dgm:spPr/>
      <dgm:t>
        <a:bodyPr/>
        <a:lstStyle/>
        <a:p>
          <a:endParaRPr lang="en-US"/>
        </a:p>
      </dgm:t>
    </dgm:pt>
    <dgm:pt modelId="{3B7D4AF6-3A8A-448D-8F1E-C08202C3698F}">
      <dgm:prSet/>
      <dgm:spPr/>
      <dgm:t>
        <a:bodyPr/>
        <a:lstStyle/>
        <a:p>
          <a:r>
            <a:rPr lang="en-US"/>
            <a:t>Activity: Analyse a dataset and create a narrative highlighting insights with visualisations</a:t>
          </a:r>
        </a:p>
      </dgm:t>
    </dgm:pt>
    <dgm:pt modelId="{06BFA740-3576-4053-A78A-861B9F63379D}" type="parTrans" cxnId="{6DAB44DE-CBA6-4B21-908A-9F5961BAC68D}">
      <dgm:prSet/>
      <dgm:spPr/>
      <dgm:t>
        <a:bodyPr/>
        <a:lstStyle/>
        <a:p>
          <a:endParaRPr lang="en-US"/>
        </a:p>
      </dgm:t>
    </dgm:pt>
    <dgm:pt modelId="{58B50994-C00C-489B-BC96-4DDCC50781D2}" type="sibTrans" cxnId="{6DAB44DE-CBA6-4B21-908A-9F5961BAC68D}">
      <dgm:prSet/>
      <dgm:spPr/>
      <dgm:t>
        <a:bodyPr/>
        <a:lstStyle/>
        <a:p>
          <a:endParaRPr lang="en-US"/>
        </a:p>
      </dgm:t>
    </dgm:pt>
    <dgm:pt modelId="{48ED95A7-41FC-4113-84B9-4707589E5478}">
      <dgm:prSet/>
      <dgm:spPr/>
      <dgm:t>
        <a:bodyPr/>
        <a:lstStyle/>
        <a:p>
          <a:r>
            <a:rPr lang="en-US"/>
            <a:t>Focus: difference between exploratory (find signal) and explanatory (present signal) analysis</a:t>
          </a:r>
        </a:p>
      </dgm:t>
    </dgm:pt>
    <dgm:pt modelId="{976E3C6F-757F-4A87-AFC5-9300BD948E02}" type="parTrans" cxnId="{AA1F1BBE-01C2-4A06-BB9C-F3C8F56512E7}">
      <dgm:prSet/>
      <dgm:spPr/>
      <dgm:t>
        <a:bodyPr/>
        <a:lstStyle/>
        <a:p>
          <a:endParaRPr lang="en-US"/>
        </a:p>
      </dgm:t>
    </dgm:pt>
    <dgm:pt modelId="{3E69AE45-F06D-4723-8467-598CD7D1AD0F}" type="sibTrans" cxnId="{AA1F1BBE-01C2-4A06-BB9C-F3C8F56512E7}">
      <dgm:prSet/>
      <dgm:spPr/>
      <dgm:t>
        <a:bodyPr/>
        <a:lstStyle/>
        <a:p>
          <a:endParaRPr lang="en-US"/>
        </a:p>
      </dgm:t>
    </dgm:pt>
    <dgm:pt modelId="{BF2C504B-305F-844F-9249-A1356F9AC6E8}" type="pres">
      <dgm:prSet presAssocID="{1D5D1F2F-0E36-406A-8FD8-6064266FF1EB}" presName="linear" presStyleCnt="0">
        <dgm:presLayoutVars>
          <dgm:animLvl val="lvl"/>
          <dgm:resizeHandles val="exact"/>
        </dgm:presLayoutVars>
      </dgm:prSet>
      <dgm:spPr/>
    </dgm:pt>
    <dgm:pt modelId="{7C021CF8-E605-FD44-984E-74063CB44AE1}" type="pres">
      <dgm:prSet presAssocID="{D5D18B4A-9519-4E76-9477-D487400EDC9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92F334-6E5B-0D42-96CB-94A7E51D7970}" type="pres">
      <dgm:prSet presAssocID="{1D7B3BDE-474E-4281-80FD-22A0FE001555}" presName="spacer" presStyleCnt="0"/>
      <dgm:spPr/>
    </dgm:pt>
    <dgm:pt modelId="{A4D7047F-0732-D047-ABCD-F2BF12ED2B2D}" type="pres">
      <dgm:prSet presAssocID="{3B7D4AF6-3A8A-448D-8F1E-C08202C369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0B84ED9-F6B5-8A40-8268-6EFA8F01856A}" type="pres">
      <dgm:prSet presAssocID="{58B50994-C00C-489B-BC96-4DDCC50781D2}" presName="spacer" presStyleCnt="0"/>
      <dgm:spPr/>
    </dgm:pt>
    <dgm:pt modelId="{6B4547AD-F2BE-FC4C-B8D7-B692210113D6}" type="pres">
      <dgm:prSet presAssocID="{48ED95A7-41FC-4113-84B9-4707589E547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7E4E513-801D-9D4D-9A70-380D9691DA40}" type="presOf" srcId="{D5D18B4A-9519-4E76-9477-D487400EDC9A}" destId="{7C021CF8-E605-FD44-984E-74063CB44AE1}" srcOrd="0" destOrd="0" presId="urn:microsoft.com/office/officeart/2005/8/layout/vList2"/>
    <dgm:cxn modelId="{03145F3F-5C21-4BC4-AA18-8D9008440BAB}" srcId="{1D5D1F2F-0E36-406A-8FD8-6064266FF1EB}" destId="{D5D18B4A-9519-4E76-9477-D487400EDC9A}" srcOrd="0" destOrd="0" parTransId="{30A829C7-A125-4D7D-AAEE-EF1B23F92454}" sibTransId="{1D7B3BDE-474E-4281-80FD-22A0FE001555}"/>
    <dgm:cxn modelId="{18B1CD7E-25E0-224B-BDC7-105F4F151BEA}" type="presOf" srcId="{3B7D4AF6-3A8A-448D-8F1E-C08202C3698F}" destId="{A4D7047F-0732-D047-ABCD-F2BF12ED2B2D}" srcOrd="0" destOrd="0" presId="urn:microsoft.com/office/officeart/2005/8/layout/vList2"/>
    <dgm:cxn modelId="{FE8B0982-DD2A-AB49-B078-4416934E2C0A}" type="presOf" srcId="{48ED95A7-41FC-4113-84B9-4707589E5478}" destId="{6B4547AD-F2BE-FC4C-B8D7-B692210113D6}" srcOrd="0" destOrd="0" presId="urn:microsoft.com/office/officeart/2005/8/layout/vList2"/>
    <dgm:cxn modelId="{AA1F1BBE-01C2-4A06-BB9C-F3C8F56512E7}" srcId="{1D5D1F2F-0E36-406A-8FD8-6064266FF1EB}" destId="{48ED95A7-41FC-4113-84B9-4707589E5478}" srcOrd="2" destOrd="0" parTransId="{976E3C6F-757F-4A87-AFC5-9300BD948E02}" sibTransId="{3E69AE45-F06D-4723-8467-598CD7D1AD0F}"/>
    <dgm:cxn modelId="{DC8692CE-BBE3-D94E-8DB4-6284B031ED9B}" type="presOf" srcId="{1D5D1F2F-0E36-406A-8FD8-6064266FF1EB}" destId="{BF2C504B-305F-844F-9249-A1356F9AC6E8}" srcOrd="0" destOrd="0" presId="urn:microsoft.com/office/officeart/2005/8/layout/vList2"/>
    <dgm:cxn modelId="{6DAB44DE-CBA6-4B21-908A-9F5961BAC68D}" srcId="{1D5D1F2F-0E36-406A-8FD8-6064266FF1EB}" destId="{3B7D4AF6-3A8A-448D-8F1E-C08202C3698F}" srcOrd="1" destOrd="0" parTransId="{06BFA740-3576-4053-A78A-861B9F63379D}" sibTransId="{58B50994-C00C-489B-BC96-4DDCC50781D2}"/>
    <dgm:cxn modelId="{7502DEA0-9202-D443-BB99-850FCFA58DC6}" type="presParOf" srcId="{BF2C504B-305F-844F-9249-A1356F9AC6E8}" destId="{7C021CF8-E605-FD44-984E-74063CB44AE1}" srcOrd="0" destOrd="0" presId="urn:microsoft.com/office/officeart/2005/8/layout/vList2"/>
    <dgm:cxn modelId="{13976835-4E0D-A145-BA22-E17AA26505B4}" type="presParOf" srcId="{BF2C504B-305F-844F-9249-A1356F9AC6E8}" destId="{AE92F334-6E5B-0D42-96CB-94A7E51D7970}" srcOrd="1" destOrd="0" presId="urn:microsoft.com/office/officeart/2005/8/layout/vList2"/>
    <dgm:cxn modelId="{9BE182BA-180D-5942-BC97-A5372DC816F6}" type="presParOf" srcId="{BF2C504B-305F-844F-9249-A1356F9AC6E8}" destId="{A4D7047F-0732-D047-ABCD-F2BF12ED2B2D}" srcOrd="2" destOrd="0" presId="urn:microsoft.com/office/officeart/2005/8/layout/vList2"/>
    <dgm:cxn modelId="{FB05377E-A66F-E844-82A5-E9A09F61C816}" type="presParOf" srcId="{BF2C504B-305F-844F-9249-A1356F9AC6E8}" destId="{B0B84ED9-F6B5-8A40-8268-6EFA8F01856A}" srcOrd="3" destOrd="0" presId="urn:microsoft.com/office/officeart/2005/8/layout/vList2"/>
    <dgm:cxn modelId="{975156D0-0015-D44D-835F-72750F5AEE89}" type="presParOf" srcId="{BF2C504B-305F-844F-9249-A1356F9AC6E8}" destId="{6B4547AD-F2BE-FC4C-B8D7-B692210113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4F7BBA-40CD-4D4F-BDB4-806437E5987A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31FBAFB-8980-40B5-A00D-C5E617ABC2F7}">
      <dgm:prSet/>
      <dgm:spPr/>
      <dgm:t>
        <a:bodyPr/>
        <a:lstStyle/>
        <a:p>
          <a:r>
            <a:rPr lang="en-US"/>
            <a:t>Lecture + reading: 'Fundamentals of Data Visualization' — Claus O. Wilke</a:t>
          </a:r>
        </a:p>
      </dgm:t>
    </dgm:pt>
    <dgm:pt modelId="{44E36064-A0F5-4C20-9553-AE71F07EC55C}" type="parTrans" cxnId="{20513B47-E7AA-44E1-9A3C-6CC74D333661}">
      <dgm:prSet/>
      <dgm:spPr/>
      <dgm:t>
        <a:bodyPr/>
        <a:lstStyle/>
        <a:p>
          <a:endParaRPr lang="en-US"/>
        </a:p>
      </dgm:t>
    </dgm:pt>
    <dgm:pt modelId="{5B99A152-FA08-4D34-A1AD-F215A5109F16}" type="sibTrans" cxnId="{20513B47-E7AA-44E1-9A3C-6CC74D333661}">
      <dgm:prSet/>
      <dgm:spPr/>
      <dgm:t>
        <a:bodyPr/>
        <a:lstStyle/>
        <a:p>
          <a:endParaRPr lang="en-US"/>
        </a:p>
      </dgm:t>
    </dgm:pt>
    <dgm:pt modelId="{C6809337-652A-4C70-BCDD-6261D5C8C640}">
      <dgm:prSet/>
      <dgm:spPr/>
      <dgm:t>
        <a:bodyPr/>
        <a:lstStyle/>
        <a:p>
          <a:r>
            <a:rPr lang="en-US"/>
            <a:t>Techniques: scatterplot matrices, parallel coordinates, heatmaps, small multiples</a:t>
          </a:r>
        </a:p>
      </dgm:t>
    </dgm:pt>
    <dgm:pt modelId="{0FC365A8-919A-49C5-825B-61BAC098941A}" type="parTrans" cxnId="{84583B84-E797-483B-AA94-86D4DA848881}">
      <dgm:prSet/>
      <dgm:spPr/>
      <dgm:t>
        <a:bodyPr/>
        <a:lstStyle/>
        <a:p>
          <a:endParaRPr lang="en-US"/>
        </a:p>
      </dgm:t>
    </dgm:pt>
    <dgm:pt modelId="{98FD73D1-89C9-4887-A59B-6F95BD37B737}" type="sibTrans" cxnId="{84583B84-E797-483B-AA94-86D4DA848881}">
      <dgm:prSet/>
      <dgm:spPr/>
      <dgm:t>
        <a:bodyPr/>
        <a:lstStyle/>
        <a:p>
          <a:endParaRPr lang="en-US"/>
        </a:p>
      </dgm:t>
    </dgm:pt>
    <dgm:pt modelId="{FF88A1C6-D5BE-4572-B5E0-AFF04358A91D}">
      <dgm:prSet/>
      <dgm:spPr/>
      <dgm:t>
        <a:bodyPr/>
        <a:lstStyle/>
        <a:p>
          <a:r>
            <a:rPr lang="en-US"/>
            <a:t>Activity: Build multivariate plots using R (ggplot2) or Python (matplotlib, seaborn, plotly)</a:t>
          </a:r>
        </a:p>
      </dgm:t>
    </dgm:pt>
    <dgm:pt modelId="{E03021DD-15ED-4F79-8BA3-4C4445BDEACE}" type="parTrans" cxnId="{F7DAEFBF-C5C5-4F07-AB14-27044BF2789B}">
      <dgm:prSet/>
      <dgm:spPr/>
      <dgm:t>
        <a:bodyPr/>
        <a:lstStyle/>
        <a:p>
          <a:endParaRPr lang="en-US"/>
        </a:p>
      </dgm:t>
    </dgm:pt>
    <dgm:pt modelId="{8F2B7C6D-CD41-4F1D-9F4C-3CB24FCA3DAC}" type="sibTrans" cxnId="{F7DAEFBF-C5C5-4F07-AB14-27044BF2789B}">
      <dgm:prSet/>
      <dgm:spPr/>
      <dgm:t>
        <a:bodyPr/>
        <a:lstStyle/>
        <a:p>
          <a:endParaRPr lang="en-US"/>
        </a:p>
      </dgm:t>
    </dgm:pt>
    <dgm:pt modelId="{DA00C963-0E87-0641-A1F9-42845CEF2C04}" type="pres">
      <dgm:prSet presAssocID="{874F7BBA-40CD-4D4F-BDB4-806437E5987A}" presName="vert0" presStyleCnt="0">
        <dgm:presLayoutVars>
          <dgm:dir/>
          <dgm:animOne val="branch"/>
          <dgm:animLvl val="lvl"/>
        </dgm:presLayoutVars>
      </dgm:prSet>
      <dgm:spPr/>
    </dgm:pt>
    <dgm:pt modelId="{4C3FC976-3DAB-A243-9B72-E8DB18455BB6}" type="pres">
      <dgm:prSet presAssocID="{031FBAFB-8980-40B5-A00D-C5E617ABC2F7}" presName="thickLine" presStyleLbl="alignNode1" presStyleIdx="0" presStyleCnt="3"/>
      <dgm:spPr/>
    </dgm:pt>
    <dgm:pt modelId="{4AB69DBB-E1E3-A741-AB83-2D9B41BA9B2F}" type="pres">
      <dgm:prSet presAssocID="{031FBAFB-8980-40B5-A00D-C5E617ABC2F7}" presName="horz1" presStyleCnt="0"/>
      <dgm:spPr/>
    </dgm:pt>
    <dgm:pt modelId="{345BD0B1-D2C1-7F42-987D-C2BFA4B41791}" type="pres">
      <dgm:prSet presAssocID="{031FBAFB-8980-40B5-A00D-C5E617ABC2F7}" presName="tx1" presStyleLbl="revTx" presStyleIdx="0" presStyleCnt="3"/>
      <dgm:spPr/>
    </dgm:pt>
    <dgm:pt modelId="{F195CE79-A7C8-A44F-923A-FF9778D8C33A}" type="pres">
      <dgm:prSet presAssocID="{031FBAFB-8980-40B5-A00D-C5E617ABC2F7}" presName="vert1" presStyleCnt="0"/>
      <dgm:spPr/>
    </dgm:pt>
    <dgm:pt modelId="{8C265730-DDE6-614F-A9C7-6C1526F639A5}" type="pres">
      <dgm:prSet presAssocID="{C6809337-652A-4C70-BCDD-6261D5C8C640}" presName="thickLine" presStyleLbl="alignNode1" presStyleIdx="1" presStyleCnt="3"/>
      <dgm:spPr/>
    </dgm:pt>
    <dgm:pt modelId="{F2A949FD-FC9F-864A-8F17-91D43BF924CE}" type="pres">
      <dgm:prSet presAssocID="{C6809337-652A-4C70-BCDD-6261D5C8C640}" presName="horz1" presStyleCnt="0"/>
      <dgm:spPr/>
    </dgm:pt>
    <dgm:pt modelId="{CE9B257F-7478-644D-9A11-20E4F5136E7D}" type="pres">
      <dgm:prSet presAssocID="{C6809337-652A-4C70-BCDD-6261D5C8C640}" presName="tx1" presStyleLbl="revTx" presStyleIdx="1" presStyleCnt="3"/>
      <dgm:spPr/>
    </dgm:pt>
    <dgm:pt modelId="{386BF86F-7E58-2F41-B031-6F639C2EBFCE}" type="pres">
      <dgm:prSet presAssocID="{C6809337-652A-4C70-BCDD-6261D5C8C640}" presName="vert1" presStyleCnt="0"/>
      <dgm:spPr/>
    </dgm:pt>
    <dgm:pt modelId="{7B942121-F44E-9643-B2E9-7A40B6D7D43C}" type="pres">
      <dgm:prSet presAssocID="{FF88A1C6-D5BE-4572-B5E0-AFF04358A91D}" presName="thickLine" presStyleLbl="alignNode1" presStyleIdx="2" presStyleCnt="3"/>
      <dgm:spPr/>
    </dgm:pt>
    <dgm:pt modelId="{5B0C6ED4-E93E-644F-962C-8C7B4A947A6B}" type="pres">
      <dgm:prSet presAssocID="{FF88A1C6-D5BE-4572-B5E0-AFF04358A91D}" presName="horz1" presStyleCnt="0"/>
      <dgm:spPr/>
    </dgm:pt>
    <dgm:pt modelId="{CDA36FA3-8AAB-C943-8E19-CE8D8A90DAA7}" type="pres">
      <dgm:prSet presAssocID="{FF88A1C6-D5BE-4572-B5E0-AFF04358A91D}" presName="tx1" presStyleLbl="revTx" presStyleIdx="2" presStyleCnt="3"/>
      <dgm:spPr/>
    </dgm:pt>
    <dgm:pt modelId="{6A596057-2BAC-974E-A22D-95BD1DC1CFFC}" type="pres">
      <dgm:prSet presAssocID="{FF88A1C6-D5BE-4572-B5E0-AFF04358A91D}" presName="vert1" presStyleCnt="0"/>
      <dgm:spPr/>
    </dgm:pt>
  </dgm:ptLst>
  <dgm:cxnLst>
    <dgm:cxn modelId="{EEEE6108-1988-E947-A408-D3D2572FD77D}" type="presOf" srcId="{FF88A1C6-D5BE-4572-B5E0-AFF04358A91D}" destId="{CDA36FA3-8AAB-C943-8E19-CE8D8A90DAA7}" srcOrd="0" destOrd="0" presId="urn:microsoft.com/office/officeart/2008/layout/LinedList"/>
    <dgm:cxn modelId="{9E4B9D1F-9875-0047-BD9E-31FFAA675744}" type="presOf" srcId="{874F7BBA-40CD-4D4F-BDB4-806437E5987A}" destId="{DA00C963-0E87-0641-A1F9-42845CEF2C04}" srcOrd="0" destOrd="0" presId="urn:microsoft.com/office/officeart/2008/layout/LinedList"/>
    <dgm:cxn modelId="{20513B47-E7AA-44E1-9A3C-6CC74D333661}" srcId="{874F7BBA-40CD-4D4F-BDB4-806437E5987A}" destId="{031FBAFB-8980-40B5-A00D-C5E617ABC2F7}" srcOrd="0" destOrd="0" parTransId="{44E36064-A0F5-4C20-9553-AE71F07EC55C}" sibTransId="{5B99A152-FA08-4D34-A1AD-F215A5109F16}"/>
    <dgm:cxn modelId="{AB63807A-81D7-9C4B-9D9B-3D3EC57B13DD}" type="presOf" srcId="{C6809337-652A-4C70-BCDD-6261D5C8C640}" destId="{CE9B257F-7478-644D-9A11-20E4F5136E7D}" srcOrd="0" destOrd="0" presId="urn:microsoft.com/office/officeart/2008/layout/LinedList"/>
    <dgm:cxn modelId="{84583B84-E797-483B-AA94-86D4DA848881}" srcId="{874F7BBA-40CD-4D4F-BDB4-806437E5987A}" destId="{C6809337-652A-4C70-BCDD-6261D5C8C640}" srcOrd="1" destOrd="0" parTransId="{0FC365A8-919A-49C5-825B-61BAC098941A}" sibTransId="{98FD73D1-89C9-4887-A59B-6F95BD37B737}"/>
    <dgm:cxn modelId="{F5E07D88-39C7-F647-94A2-50C0FFABCC79}" type="presOf" srcId="{031FBAFB-8980-40B5-A00D-C5E617ABC2F7}" destId="{345BD0B1-D2C1-7F42-987D-C2BFA4B41791}" srcOrd="0" destOrd="0" presId="urn:microsoft.com/office/officeart/2008/layout/LinedList"/>
    <dgm:cxn modelId="{F7DAEFBF-C5C5-4F07-AB14-27044BF2789B}" srcId="{874F7BBA-40CD-4D4F-BDB4-806437E5987A}" destId="{FF88A1C6-D5BE-4572-B5E0-AFF04358A91D}" srcOrd="2" destOrd="0" parTransId="{E03021DD-15ED-4F79-8BA3-4C4445BDEACE}" sibTransId="{8F2B7C6D-CD41-4F1D-9F4C-3CB24FCA3DAC}"/>
    <dgm:cxn modelId="{0A5F46B6-B9D6-A64C-AD64-913AD1850AC2}" type="presParOf" srcId="{DA00C963-0E87-0641-A1F9-42845CEF2C04}" destId="{4C3FC976-3DAB-A243-9B72-E8DB18455BB6}" srcOrd="0" destOrd="0" presId="urn:microsoft.com/office/officeart/2008/layout/LinedList"/>
    <dgm:cxn modelId="{F3C0E965-117E-014D-9259-30DFF37431A4}" type="presParOf" srcId="{DA00C963-0E87-0641-A1F9-42845CEF2C04}" destId="{4AB69DBB-E1E3-A741-AB83-2D9B41BA9B2F}" srcOrd="1" destOrd="0" presId="urn:microsoft.com/office/officeart/2008/layout/LinedList"/>
    <dgm:cxn modelId="{6E39D5C2-721D-D84B-8E7D-FFA8AB8F26C0}" type="presParOf" srcId="{4AB69DBB-E1E3-A741-AB83-2D9B41BA9B2F}" destId="{345BD0B1-D2C1-7F42-987D-C2BFA4B41791}" srcOrd="0" destOrd="0" presId="urn:microsoft.com/office/officeart/2008/layout/LinedList"/>
    <dgm:cxn modelId="{D9D540FF-0EF8-5948-8CAE-C9F9F44F9112}" type="presParOf" srcId="{4AB69DBB-E1E3-A741-AB83-2D9B41BA9B2F}" destId="{F195CE79-A7C8-A44F-923A-FF9778D8C33A}" srcOrd="1" destOrd="0" presId="urn:microsoft.com/office/officeart/2008/layout/LinedList"/>
    <dgm:cxn modelId="{BE83E434-B352-1F43-B528-E655FFB642F7}" type="presParOf" srcId="{DA00C963-0E87-0641-A1F9-42845CEF2C04}" destId="{8C265730-DDE6-614F-A9C7-6C1526F639A5}" srcOrd="2" destOrd="0" presId="urn:microsoft.com/office/officeart/2008/layout/LinedList"/>
    <dgm:cxn modelId="{F077D459-1573-3E44-943C-E93580125BBC}" type="presParOf" srcId="{DA00C963-0E87-0641-A1F9-42845CEF2C04}" destId="{F2A949FD-FC9F-864A-8F17-91D43BF924CE}" srcOrd="3" destOrd="0" presId="urn:microsoft.com/office/officeart/2008/layout/LinedList"/>
    <dgm:cxn modelId="{2C65FF75-75FB-F943-AE18-EBA4A0F1A523}" type="presParOf" srcId="{F2A949FD-FC9F-864A-8F17-91D43BF924CE}" destId="{CE9B257F-7478-644D-9A11-20E4F5136E7D}" srcOrd="0" destOrd="0" presId="urn:microsoft.com/office/officeart/2008/layout/LinedList"/>
    <dgm:cxn modelId="{1E3863B4-D908-3E41-B90B-700C4D763420}" type="presParOf" srcId="{F2A949FD-FC9F-864A-8F17-91D43BF924CE}" destId="{386BF86F-7E58-2F41-B031-6F639C2EBFCE}" srcOrd="1" destOrd="0" presId="urn:microsoft.com/office/officeart/2008/layout/LinedList"/>
    <dgm:cxn modelId="{12E18633-13E7-BB4D-88EE-092822D05540}" type="presParOf" srcId="{DA00C963-0E87-0641-A1F9-42845CEF2C04}" destId="{7B942121-F44E-9643-B2E9-7A40B6D7D43C}" srcOrd="4" destOrd="0" presId="urn:microsoft.com/office/officeart/2008/layout/LinedList"/>
    <dgm:cxn modelId="{DF5DF1A8-7795-6D4B-89B0-3CFB151EBFD4}" type="presParOf" srcId="{DA00C963-0E87-0641-A1F9-42845CEF2C04}" destId="{5B0C6ED4-E93E-644F-962C-8C7B4A947A6B}" srcOrd="5" destOrd="0" presId="urn:microsoft.com/office/officeart/2008/layout/LinedList"/>
    <dgm:cxn modelId="{4093F5B0-C7E4-F14B-9772-A1582B6D411F}" type="presParOf" srcId="{5B0C6ED4-E93E-644F-962C-8C7B4A947A6B}" destId="{CDA36FA3-8AAB-C943-8E19-CE8D8A90DAA7}" srcOrd="0" destOrd="0" presId="urn:microsoft.com/office/officeart/2008/layout/LinedList"/>
    <dgm:cxn modelId="{59A9336F-6559-944A-B677-2FEF9EACE724}" type="presParOf" srcId="{5B0C6ED4-E93E-644F-962C-8C7B4A947A6B}" destId="{6A596057-2BAC-974E-A22D-95BD1DC1CF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49D812-753E-4315-BE89-853172C88D15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C9493E6-4FFD-49CF-92E3-A6D155E0FEB7}">
      <dgm:prSet/>
      <dgm:spPr/>
      <dgm:t>
        <a:bodyPr/>
        <a:lstStyle/>
        <a:p>
          <a:r>
            <a:rPr lang="en-US" dirty="0"/>
            <a:t>Reading: 'The Ethics of Data Visualization' — Alberto Cairo (TED talk) (</a:t>
          </a:r>
          <a:r>
            <a:rPr lang="en-GB" dirty="0">
              <a:hlinkClick xmlns:r="http://schemas.openxmlformats.org/officeDocument/2006/relationships" r:id="rId1"/>
            </a:rPr>
            <a:t>https://www.nationalgeographic.com/adventure/article/151016-data-points-alberto-cairo-interview</a:t>
          </a:r>
          <a:r>
            <a:rPr lang="en-GB" dirty="0"/>
            <a:t>)</a:t>
          </a:r>
        </a:p>
        <a:p>
          <a:endParaRPr lang="en-US" dirty="0"/>
        </a:p>
      </dgm:t>
    </dgm:pt>
    <dgm:pt modelId="{DC43D02B-635D-4236-A5A9-500FE7E0CE7B}" type="parTrans" cxnId="{94657ADB-4E88-4B8C-9FE8-A82915103ACC}">
      <dgm:prSet/>
      <dgm:spPr/>
      <dgm:t>
        <a:bodyPr/>
        <a:lstStyle/>
        <a:p>
          <a:endParaRPr lang="en-US"/>
        </a:p>
      </dgm:t>
    </dgm:pt>
    <dgm:pt modelId="{3F11153F-8B23-4EEA-9D53-59C3BFBC87F5}" type="sibTrans" cxnId="{94657ADB-4E88-4B8C-9FE8-A82915103ACC}">
      <dgm:prSet/>
      <dgm:spPr/>
      <dgm:t>
        <a:bodyPr/>
        <a:lstStyle/>
        <a:p>
          <a:endParaRPr lang="en-US"/>
        </a:p>
      </dgm:t>
    </dgm:pt>
    <dgm:pt modelId="{40E8FD30-7B46-4F7C-8981-99BC418202D2}">
      <dgm:prSet/>
      <dgm:spPr/>
      <dgm:t>
        <a:bodyPr/>
        <a:lstStyle/>
        <a:p>
          <a:r>
            <a:rPr lang="en-US"/>
            <a:t>Activities: Critique visualisations for misleading representations and bias</a:t>
          </a:r>
        </a:p>
      </dgm:t>
    </dgm:pt>
    <dgm:pt modelId="{8EACE79E-9FA1-4EA5-A959-C13851BD759D}" type="parTrans" cxnId="{85084862-BF3D-429A-9370-85F95DFE0BE8}">
      <dgm:prSet/>
      <dgm:spPr/>
      <dgm:t>
        <a:bodyPr/>
        <a:lstStyle/>
        <a:p>
          <a:endParaRPr lang="en-US"/>
        </a:p>
      </dgm:t>
    </dgm:pt>
    <dgm:pt modelId="{621C8E41-975A-4FF6-9035-97E08A6E0E74}" type="sibTrans" cxnId="{85084862-BF3D-429A-9370-85F95DFE0BE8}">
      <dgm:prSet/>
      <dgm:spPr/>
      <dgm:t>
        <a:bodyPr/>
        <a:lstStyle/>
        <a:p>
          <a:endParaRPr lang="en-US"/>
        </a:p>
      </dgm:t>
    </dgm:pt>
    <dgm:pt modelId="{645E2182-C09B-49CA-8D82-845028B0F40B}">
      <dgm:prSet/>
      <dgm:spPr/>
      <dgm:t>
        <a:bodyPr/>
        <a:lstStyle/>
        <a:p>
          <a:r>
            <a:rPr lang="en-US"/>
            <a:t>Topics: scale manipulation, selective omission, misleading color, accessibility</a:t>
          </a:r>
        </a:p>
      </dgm:t>
    </dgm:pt>
    <dgm:pt modelId="{B1C8E2F7-B88F-4A6E-AD75-A869BE26A760}" type="parTrans" cxnId="{15FAD6B9-EA6C-49DF-AAC3-E0F74E0D58A2}">
      <dgm:prSet/>
      <dgm:spPr/>
      <dgm:t>
        <a:bodyPr/>
        <a:lstStyle/>
        <a:p>
          <a:endParaRPr lang="en-US"/>
        </a:p>
      </dgm:t>
    </dgm:pt>
    <dgm:pt modelId="{3E6785F5-CAC3-484A-BF84-02BD7AD8A5EE}" type="sibTrans" cxnId="{15FAD6B9-EA6C-49DF-AAC3-E0F74E0D58A2}">
      <dgm:prSet/>
      <dgm:spPr/>
      <dgm:t>
        <a:bodyPr/>
        <a:lstStyle/>
        <a:p>
          <a:endParaRPr lang="en-US"/>
        </a:p>
      </dgm:t>
    </dgm:pt>
    <dgm:pt modelId="{34944A0D-7BA4-744C-941C-177E9ACFD93C}" type="pres">
      <dgm:prSet presAssocID="{7749D812-753E-4315-BE89-853172C88D15}" presName="vert0" presStyleCnt="0">
        <dgm:presLayoutVars>
          <dgm:dir/>
          <dgm:animOne val="branch"/>
          <dgm:animLvl val="lvl"/>
        </dgm:presLayoutVars>
      </dgm:prSet>
      <dgm:spPr/>
    </dgm:pt>
    <dgm:pt modelId="{D4BCF709-DF2A-FC43-BDAE-B50E04019E48}" type="pres">
      <dgm:prSet presAssocID="{9C9493E6-4FFD-49CF-92E3-A6D155E0FEB7}" presName="thickLine" presStyleLbl="alignNode1" presStyleIdx="0" presStyleCnt="3"/>
      <dgm:spPr/>
    </dgm:pt>
    <dgm:pt modelId="{86AA9686-4808-D445-9035-2DE9F7638383}" type="pres">
      <dgm:prSet presAssocID="{9C9493E6-4FFD-49CF-92E3-A6D155E0FEB7}" presName="horz1" presStyleCnt="0"/>
      <dgm:spPr/>
    </dgm:pt>
    <dgm:pt modelId="{80C56BF2-B288-A043-8886-484B60FE5534}" type="pres">
      <dgm:prSet presAssocID="{9C9493E6-4FFD-49CF-92E3-A6D155E0FEB7}" presName="tx1" presStyleLbl="revTx" presStyleIdx="0" presStyleCnt="3"/>
      <dgm:spPr/>
    </dgm:pt>
    <dgm:pt modelId="{57C31DEB-007F-4C41-A74C-DED013DBD707}" type="pres">
      <dgm:prSet presAssocID="{9C9493E6-4FFD-49CF-92E3-A6D155E0FEB7}" presName="vert1" presStyleCnt="0"/>
      <dgm:spPr/>
    </dgm:pt>
    <dgm:pt modelId="{3C06485C-59DE-3040-8332-CA683A437BC1}" type="pres">
      <dgm:prSet presAssocID="{40E8FD30-7B46-4F7C-8981-99BC418202D2}" presName="thickLine" presStyleLbl="alignNode1" presStyleIdx="1" presStyleCnt="3"/>
      <dgm:spPr/>
    </dgm:pt>
    <dgm:pt modelId="{2ED08CE9-2F16-C54E-8EEE-2688F81D1981}" type="pres">
      <dgm:prSet presAssocID="{40E8FD30-7B46-4F7C-8981-99BC418202D2}" presName="horz1" presStyleCnt="0"/>
      <dgm:spPr/>
    </dgm:pt>
    <dgm:pt modelId="{4AE32587-B09A-C14F-B821-A754BEEB6D6F}" type="pres">
      <dgm:prSet presAssocID="{40E8FD30-7B46-4F7C-8981-99BC418202D2}" presName="tx1" presStyleLbl="revTx" presStyleIdx="1" presStyleCnt="3"/>
      <dgm:spPr/>
    </dgm:pt>
    <dgm:pt modelId="{5357537B-26EC-644C-B1D1-10D598F83FFF}" type="pres">
      <dgm:prSet presAssocID="{40E8FD30-7B46-4F7C-8981-99BC418202D2}" presName="vert1" presStyleCnt="0"/>
      <dgm:spPr/>
    </dgm:pt>
    <dgm:pt modelId="{BC436D6B-C4EA-E040-A193-D78800077E64}" type="pres">
      <dgm:prSet presAssocID="{645E2182-C09B-49CA-8D82-845028B0F40B}" presName="thickLine" presStyleLbl="alignNode1" presStyleIdx="2" presStyleCnt="3"/>
      <dgm:spPr/>
    </dgm:pt>
    <dgm:pt modelId="{D006DCDB-B0C9-1843-83E3-081ABA77E97D}" type="pres">
      <dgm:prSet presAssocID="{645E2182-C09B-49CA-8D82-845028B0F40B}" presName="horz1" presStyleCnt="0"/>
      <dgm:spPr/>
    </dgm:pt>
    <dgm:pt modelId="{FB3415D2-3A58-2842-83E9-699B16D9105D}" type="pres">
      <dgm:prSet presAssocID="{645E2182-C09B-49CA-8D82-845028B0F40B}" presName="tx1" presStyleLbl="revTx" presStyleIdx="2" presStyleCnt="3"/>
      <dgm:spPr/>
    </dgm:pt>
    <dgm:pt modelId="{5A434D26-5567-7A4B-975E-AD0F338DF45B}" type="pres">
      <dgm:prSet presAssocID="{645E2182-C09B-49CA-8D82-845028B0F40B}" presName="vert1" presStyleCnt="0"/>
      <dgm:spPr/>
    </dgm:pt>
  </dgm:ptLst>
  <dgm:cxnLst>
    <dgm:cxn modelId="{75327000-E7F2-5341-9DD7-456F757995B0}" type="presOf" srcId="{9C9493E6-4FFD-49CF-92E3-A6D155E0FEB7}" destId="{80C56BF2-B288-A043-8886-484B60FE5534}" srcOrd="0" destOrd="0" presId="urn:microsoft.com/office/officeart/2008/layout/LinedList"/>
    <dgm:cxn modelId="{21D6A61A-9B6A-B844-8981-2D31ED401E37}" type="presOf" srcId="{7749D812-753E-4315-BE89-853172C88D15}" destId="{34944A0D-7BA4-744C-941C-177E9ACFD93C}" srcOrd="0" destOrd="0" presId="urn:microsoft.com/office/officeart/2008/layout/LinedList"/>
    <dgm:cxn modelId="{1F59E12F-B251-6848-8A9D-FB241AEFD77E}" type="presOf" srcId="{40E8FD30-7B46-4F7C-8981-99BC418202D2}" destId="{4AE32587-B09A-C14F-B821-A754BEEB6D6F}" srcOrd="0" destOrd="0" presId="urn:microsoft.com/office/officeart/2008/layout/LinedList"/>
    <dgm:cxn modelId="{85084862-BF3D-429A-9370-85F95DFE0BE8}" srcId="{7749D812-753E-4315-BE89-853172C88D15}" destId="{40E8FD30-7B46-4F7C-8981-99BC418202D2}" srcOrd="1" destOrd="0" parTransId="{8EACE79E-9FA1-4EA5-A959-C13851BD759D}" sibTransId="{621C8E41-975A-4FF6-9035-97E08A6E0E74}"/>
    <dgm:cxn modelId="{D821939B-C04E-4C4E-89C3-0552E11E7496}" type="presOf" srcId="{645E2182-C09B-49CA-8D82-845028B0F40B}" destId="{FB3415D2-3A58-2842-83E9-699B16D9105D}" srcOrd="0" destOrd="0" presId="urn:microsoft.com/office/officeart/2008/layout/LinedList"/>
    <dgm:cxn modelId="{15FAD6B9-EA6C-49DF-AAC3-E0F74E0D58A2}" srcId="{7749D812-753E-4315-BE89-853172C88D15}" destId="{645E2182-C09B-49CA-8D82-845028B0F40B}" srcOrd="2" destOrd="0" parTransId="{B1C8E2F7-B88F-4A6E-AD75-A869BE26A760}" sibTransId="{3E6785F5-CAC3-484A-BF84-02BD7AD8A5EE}"/>
    <dgm:cxn modelId="{94657ADB-4E88-4B8C-9FE8-A82915103ACC}" srcId="{7749D812-753E-4315-BE89-853172C88D15}" destId="{9C9493E6-4FFD-49CF-92E3-A6D155E0FEB7}" srcOrd="0" destOrd="0" parTransId="{DC43D02B-635D-4236-A5A9-500FE7E0CE7B}" sibTransId="{3F11153F-8B23-4EEA-9D53-59C3BFBC87F5}"/>
    <dgm:cxn modelId="{54B4E2DE-4F00-0045-A9A9-1B3A70876CE0}" type="presParOf" srcId="{34944A0D-7BA4-744C-941C-177E9ACFD93C}" destId="{D4BCF709-DF2A-FC43-BDAE-B50E04019E48}" srcOrd="0" destOrd="0" presId="urn:microsoft.com/office/officeart/2008/layout/LinedList"/>
    <dgm:cxn modelId="{99939CEA-034B-B142-825E-E682B87F9FAA}" type="presParOf" srcId="{34944A0D-7BA4-744C-941C-177E9ACFD93C}" destId="{86AA9686-4808-D445-9035-2DE9F7638383}" srcOrd="1" destOrd="0" presId="urn:microsoft.com/office/officeart/2008/layout/LinedList"/>
    <dgm:cxn modelId="{A882C16D-E6B1-4444-B688-D286A7958DF4}" type="presParOf" srcId="{86AA9686-4808-D445-9035-2DE9F7638383}" destId="{80C56BF2-B288-A043-8886-484B60FE5534}" srcOrd="0" destOrd="0" presId="urn:microsoft.com/office/officeart/2008/layout/LinedList"/>
    <dgm:cxn modelId="{E53C9632-E9DE-6E47-8422-336D2733A032}" type="presParOf" srcId="{86AA9686-4808-D445-9035-2DE9F7638383}" destId="{57C31DEB-007F-4C41-A74C-DED013DBD707}" srcOrd="1" destOrd="0" presId="urn:microsoft.com/office/officeart/2008/layout/LinedList"/>
    <dgm:cxn modelId="{8939DFB2-FA26-C748-AFC4-C4E85061E139}" type="presParOf" srcId="{34944A0D-7BA4-744C-941C-177E9ACFD93C}" destId="{3C06485C-59DE-3040-8332-CA683A437BC1}" srcOrd="2" destOrd="0" presId="urn:microsoft.com/office/officeart/2008/layout/LinedList"/>
    <dgm:cxn modelId="{81C9F29B-A051-8748-A967-237548B15501}" type="presParOf" srcId="{34944A0D-7BA4-744C-941C-177E9ACFD93C}" destId="{2ED08CE9-2F16-C54E-8EEE-2688F81D1981}" srcOrd="3" destOrd="0" presId="urn:microsoft.com/office/officeart/2008/layout/LinedList"/>
    <dgm:cxn modelId="{39FED8D2-B3A5-FC4D-95B3-6ACDA35EA54F}" type="presParOf" srcId="{2ED08CE9-2F16-C54E-8EEE-2688F81D1981}" destId="{4AE32587-B09A-C14F-B821-A754BEEB6D6F}" srcOrd="0" destOrd="0" presId="urn:microsoft.com/office/officeart/2008/layout/LinedList"/>
    <dgm:cxn modelId="{FB7E01E0-B39A-E641-9230-90B992232F60}" type="presParOf" srcId="{2ED08CE9-2F16-C54E-8EEE-2688F81D1981}" destId="{5357537B-26EC-644C-B1D1-10D598F83FFF}" srcOrd="1" destOrd="0" presId="urn:microsoft.com/office/officeart/2008/layout/LinedList"/>
    <dgm:cxn modelId="{22A39624-ABEE-4841-86F0-515D1623BF55}" type="presParOf" srcId="{34944A0D-7BA4-744C-941C-177E9ACFD93C}" destId="{BC436D6B-C4EA-E040-A193-D78800077E64}" srcOrd="4" destOrd="0" presId="urn:microsoft.com/office/officeart/2008/layout/LinedList"/>
    <dgm:cxn modelId="{2467651C-185C-044D-A285-BA7A8A86C01B}" type="presParOf" srcId="{34944A0D-7BA4-744C-941C-177E9ACFD93C}" destId="{D006DCDB-B0C9-1843-83E3-081ABA77E97D}" srcOrd="5" destOrd="0" presId="urn:microsoft.com/office/officeart/2008/layout/LinedList"/>
    <dgm:cxn modelId="{DEBC3216-87ED-6443-9597-4A5183C6C86E}" type="presParOf" srcId="{D006DCDB-B0C9-1843-83E3-081ABA77E97D}" destId="{FB3415D2-3A58-2842-83E9-699B16D9105D}" srcOrd="0" destOrd="0" presId="urn:microsoft.com/office/officeart/2008/layout/LinedList"/>
    <dgm:cxn modelId="{535BC7B1-1924-7B45-A8AA-55D488607909}" type="presParOf" srcId="{D006DCDB-B0C9-1843-83E3-081ABA77E97D}" destId="{5A434D26-5567-7A4B-975E-AD0F338DF4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775402-1015-4A43-BC8B-6E9C212A90D4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E061D5F-BE50-4294-9C4D-B9E94F3A22F8}">
      <dgm:prSet/>
      <dgm:spPr/>
      <dgm:t>
        <a:bodyPr/>
        <a:lstStyle/>
        <a:p>
          <a:r>
            <a:rPr lang="en-US"/>
            <a:t>Tutorials: R (ggplot2, plotly) or Python (matplotlib, seaborn, plotly, streamlit)</a:t>
          </a:r>
        </a:p>
      </dgm:t>
    </dgm:pt>
    <dgm:pt modelId="{349BA1F9-18BA-4075-8749-5EC3BA99DFE1}" type="parTrans" cxnId="{E1542430-F1D3-4CA5-A4DF-2441D5BF659C}">
      <dgm:prSet/>
      <dgm:spPr/>
      <dgm:t>
        <a:bodyPr/>
        <a:lstStyle/>
        <a:p>
          <a:endParaRPr lang="en-US"/>
        </a:p>
      </dgm:t>
    </dgm:pt>
    <dgm:pt modelId="{4C2FD3C6-E778-43F8-A4D9-DE9085E4F40C}" type="sibTrans" cxnId="{E1542430-F1D3-4CA5-A4DF-2441D5BF659C}">
      <dgm:prSet/>
      <dgm:spPr/>
      <dgm:t>
        <a:bodyPr/>
        <a:lstStyle/>
        <a:p>
          <a:endParaRPr lang="en-US"/>
        </a:p>
      </dgm:t>
    </dgm:pt>
    <dgm:pt modelId="{7197EBDA-4D2A-423A-9C7E-B6A88AFA3279}">
      <dgm:prSet/>
      <dgm:spPr/>
      <dgm:t>
        <a:bodyPr/>
        <a:lstStyle/>
        <a:p>
          <a:r>
            <a:rPr lang="en-US"/>
            <a:t>Activities: Hands-on sessions to create interactive visualisations and dashboards</a:t>
          </a:r>
        </a:p>
      </dgm:t>
    </dgm:pt>
    <dgm:pt modelId="{AA8632E8-DAB3-4C9A-A989-59A38AEDDA41}" type="parTrans" cxnId="{16596CC7-C424-47EE-BC8C-E720C65C2CA4}">
      <dgm:prSet/>
      <dgm:spPr/>
      <dgm:t>
        <a:bodyPr/>
        <a:lstStyle/>
        <a:p>
          <a:endParaRPr lang="en-US"/>
        </a:p>
      </dgm:t>
    </dgm:pt>
    <dgm:pt modelId="{963CB60D-1088-4DE0-8ABA-684EDB2D9DC4}" type="sibTrans" cxnId="{16596CC7-C424-47EE-BC8C-E720C65C2CA4}">
      <dgm:prSet/>
      <dgm:spPr/>
      <dgm:t>
        <a:bodyPr/>
        <a:lstStyle/>
        <a:p>
          <a:endParaRPr lang="en-US"/>
        </a:p>
      </dgm:t>
    </dgm:pt>
    <dgm:pt modelId="{552A3F48-8667-4C44-B54E-57231936E64B}">
      <dgm:prSet/>
      <dgm:spPr/>
      <dgm:t>
        <a:bodyPr/>
        <a:lstStyle/>
        <a:p>
          <a:r>
            <a:rPr lang="en-US"/>
            <a:t>Emphasise reproducibility: notebooks, version control, and narrative cells</a:t>
          </a:r>
        </a:p>
      </dgm:t>
    </dgm:pt>
    <dgm:pt modelId="{C0750650-38D0-41D2-A9BC-1643E22A451F}" type="parTrans" cxnId="{1517E10E-AAF9-4B20-A087-5DA5CA8DCBE0}">
      <dgm:prSet/>
      <dgm:spPr/>
      <dgm:t>
        <a:bodyPr/>
        <a:lstStyle/>
        <a:p>
          <a:endParaRPr lang="en-US"/>
        </a:p>
      </dgm:t>
    </dgm:pt>
    <dgm:pt modelId="{24CEF000-6167-47C1-92E7-6E4C8C2D1B7F}" type="sibTrans" cxnId="{1517E10E-AAF9-4B20-A087-5DA5CA8DCBE0}">
      <dgm:prSet/>
      <dgm:spPr/>
      <dgm:t>
        <a:bodyPr/>
        <a:lstStyle/>
        <a:p>
          <a:endParaRPr lang="en-US"/>
        </a:p>
      </dgm:t>
    </dgm:pt>
    <dgm:pt modelId="{B13E4530-5E15-A24D-B8C0-B2B0C976EA85}" type="pres">
      <dgm:prSet presAssocID="{F0775402-1015-4A43-BC8B-6E9C212A90D4}" presName="vert0" presStyleCnt="0">
        <dgm:presLayoutVars>
          <dgm:dir/>
          <dgm:animOne val="branch"/>
          <dgm:animLvl val="lvl"/>
        </dgm:presLayoutVars>
      </dgm:prSet>
      <dgm:spPr/>
    </dgm:pt>
    <dgm:pt modelId="{A6316D8D-AF73-6B45-BFD7-A151253A5E3A}" type="pres">
      <dgm:prSet presAssocID="{0E061D5F-BE50-4294-9C4D-B9E94F3A22F8}" presName="thickLine" presStyleLbl="alignNode1" presStyleIdx="0" presStyleCnt="3"/>
      <dgm:spPr/>
    </dgm:pt>
    <dgm:pt modelId="{A5099252-AEBA-E345-B0E1-7E5334EC4121}" type="pres">
      <dgm:prSet presAssocID="{0E061D5F-BE50-4294-9C4D-B9E94F3A22F8}" presName="horz1" presStyleCnt="0"/>
      <dgm:spPr/>
    </dgm:pt>
    <dgm:pt modelId="{7B0EBECB-5016-3B42-84D4-BD2E00765CD3}" type="pres">
      <dgm:prSet presAssocID="{0E061D5F-BE50-4294-9C4D-B9E94F3A22F8}" presName="tx1" presStyleLbl="revTx" presStyleIdx="0" presStyleCnt="3"/>
      <dgm:spPr/>
    </dgm:pt>
    <dgm:pt modelId="{A3D5EE7C-0B4A-9C49-95C2-22904332138B}" type="pres">
      <dgm:prSet presAssocID="{0E061D5F-BE50-4294-9C4D-B9E94F3A22F8}" presName="vert1" presStyleCnt="0"/>
      <dgm:spPr/>
    </dgm:pt>
    <dgm:pt modelId="{C5F8E765-2569-FD48-9CAF-FB1E02A8AF6D}" type="pres">
      <dgm:prSet presAssocID="{7197EBDA-4D2A-423A-9C7E-B6A88AFA3279}" presName="thickLine" presStyleLbl="alignNode1" presStyleIdx="1" presStyleCnt="3"/>
      <dgm:spPr/>
    </dgm:pt>
    <dgm:pt modelId="{46759B06-D33A-FF40-9F32-FAA7B2704E5E}" type="pres">
      <dgm:prSet presAssocID="{7197EBDA-4D2A-423A-9C7E-B6A88AFA3279}" presName="horz1" presStyleCnt="0"/>
      <dgm:spPr/>
    </dgm:pt>
    <dgm:pt modelId="{F468911B-8A76-9D48-9959-D24CC3DB5162}" type="pres">
      <dgm:prSet presAssocID="{7197EBDA-4D2A-423A-9C7E-B6A88AFA3279}" presName="tx1" presStyleLbl="revTx" presStyleIdx="1" presStyleCnt="3"/>
      <dgm:spPr/>
    </dgm:pt>
    <dgm:pt modelId="{A27101ED-3B0D-174F-AD73-38D6383ADD48}" type="pres">
      <dgm:prSet presAssocID="{7197EBDA-4D2A-423A-9C7E-B6A88AFA3279}" presName="vert1" presStyleCnt="0"/>
      <dgm:spPr/>
    </dgm:pt>
    <dgm:pt modelId="{10DF315D-BD88-9A48-8D35-4BE645C47254}" type="pres">
      <dgm:prSet presAssocID="{552A3F48-8667-4C44-B54E-57231936E64B}" presName="thickLine" presStyleLbl="alignNode1" presStyleIdx="2" presStyleCnt="3"/>
      <dgm:spPr/>
    </dgm:pt>
    <dgm:pt modelId="{7654AE58-BF6E-C84F-A898-01D0C4D7C2D8}" type="pres">
      <dgm:prSet presAssocID="{552A3F48-8667-4C44-B54E-57231936E64B}" presName="horz1" presStyleCnt="0"/>
      <dgm:spPr/>
    </dgm:pt>
    <dgm:pt modelId="{D61B7F14-51EF-D74E-A15E-B655282B658B}" type="pres">
      <dgm:prSet presAssocID="{552A3F48-8667-4C44-B54E-57231936E64B}" presName="tx1" presStyleLbl="revTx" presStyleIdx="2" presStyleCnt="3"/>
      <dgm:spPr/>
    </dgm:pt>
    <dgm:pt modelId="{C41E495F-B15A-5840-B96E-75856A3B2D43}" type="pres">
      <dgm:prSet presAssocID="{552A3F48-8667-4C44-B54E-57231936E64B}" presName="vert1" presStyleCnt="0"/>
      <dgm:spPr/>
    </dgm:pt>
  </dgm:ptLst>
  <dgm:cxnLst>
    <dgm:cxn modelId="{29837C03-8694-0C4E-BE4A-369A9F43084A}" type="presOf" srcId="{F0775402-1015-4A43-BC8B-6E9C212A90D4}" destId="{B13E4530-5E15-A24D-B8C0-B2B0C976EA85}" srcOrd="0" destOrd="0" presId="urn:microsoft.com/office/officeart/2008/layout/LinedList"/>
    <dgm:cxn modelId="{1517E10E-AAF9-4B20-A087-5DA5CA8DCBE0}" srcId="{F0775402-1015-4A43-BC8B-6E9C212A90D4}" destId="{552A3F48-8667-4C44-B54E-57231936E64B}" srcOrd="2" destOrd="0" parTransId="{C0750650-38D0-41D2-A9BC-1643E22A451F}" sibTransId="{24CEF000-6167-47C1-92E7-6E4C8C2D1B7F}"/>
    <dgm:cxn modelId="{2EF91819-65DA-7041-B85B-31E05669F79C}" type="presOf" srcId="{7197EBDA-4D2A-423A-9C7E-B6A88AFA3279}" destId="{F468911B-8A76-9D48-9959-D24CC3DB5162}" srcOrd="0" destOrd="0" presId="urn:microsoft.com/office/officeart/2008/layout/LinedList"/>
    <dgm:cxn modelId="{E1542430-F1D3-4CA5-A4DF-2441D5BF659C}" srcId="{F0775402-1015-4A43-BC8B-6E9C212A90D4}" destId="{0E061D5F-BE50-4294-9C4D-B9E94F3A22F8}" srcOrd="0" destOrd="0" parTransId="{349BA1F9-18BA-4075-8749-5EC3BA99DFE1}" sibTransId="{4C2FD3C6-E778-43F8-A4D9-DE9085E4F40C}"/>
    <dgm:cxn modelId="{3B277F47-DDDC-034A-8B32-68CA510E2A32}" type="presOf" srcId="{0E061D5F-BE50-4294-9C4D-B9E94F3A22F8}" destId="{7B0EBECB-5016-3B42-84D4-BD2E00765CD3}" srcOrd="0" destOrd="0" presId="urn:microsoft.com/office/officeart/2008/layout/LinedList"/>
    <dgm:cxn modelId="{E4D2017C-9C3D-964B-9035-34C16C9FADAD}" type="presOf" srcId="{552A3F48-8667-4C44-B54E-57231936E64B}" destId="{D61B7F14-51EF-D74E-A15E-B655282B658B}" srcOrd="0" destOrd="0" presId="urn:microsoft.com/office/officeart/2008/layout/LinedList"/>
    <dgm:cxn modelId="{16596CC7-C424-47EE-BC8C-E720C65C2CA4}" srcId="{F0775402-1015-4A43-BC8B-6E9C212A90D4}" destId="{7197EBDA-4D2A-423A-9C7E-B6A88AFA3279}" srcOrd="1" destOrd="0" parTransId="{AA8632E8-DAB3-4C9A-A989-59A38AEDDA41}" sibTransId="{963CB60D-1088-4DE0-8ABA-684EDB2D9DC4}"/>
    <dgm:cxn modelId="{F359E71B-AEE8-0A43-9549-B197F912A0AF}" type="presParOf" srcId="{B13E4530-5E15-A24D-B8C0-B2B0C976EA85}" destId="{A6316D8D-AF73-6B45-BFD7-A151253A5E3A}" srcOrd="0" destOrd="0" presId="urn:microsoft.com/office/officeart/2008/layout/LinedList"/>
    <dgm:cxn modelId="{72BAF96E-44A8-C247-9D6D-E945C4010122}" type="presParOf" srcId="{B13E4530-5E15-A24D-B8C0-B2B0C976EA85}" destId="{A5099252-AEBA-E345-B0E1-7E5334EC4121}" srcOrd="1" destOrd="0" presId="urn:microsoft.com/office/officeart/2008/layout/LinedList"/>
    <dgm:cxn modelId="{D76A0FB1-893F-FC4B-A599-4530C7455FCC}" type="presParOf" srcId="{A5099252-AEBA-E345-B0E1-7E5334EC4121}" destId="{7B0EBECB-5016-3B42-84D4-BD2E00765CD3}" srcOrd="0" destOrd="0" presId="urn:microsoft.com/office/officeart/2008/layout/LinedList"/>
    <dgm:cxn modelId="{675A08AD-8EAF-C145-8331-929C50CCF0DA}" type="presParOf" srcId="{A5099252-AEBA-E345-B0E1-7E5334EC4121}" destId="{A3D5EE7C-0B4A-9C49-95C2-22904332138B}" srcOrd="1" destOrd="0" presId="urn:microsoft.com/office/officeart/2008/layout/LinedList"/>
    <dgm:cxn modelId="{644BFB16-E910-9F49-9A60-D512B7890A55}" type="presParOf" srcId="{B13E4530-5E15-A24D-B8C0-B2B0C976EA85}" destId="{C5F8E765-2569-FD48-9CAF-FB1E02A8AF6D}" srcOrd="2" destOrd="0" presId="urn:microsoft.com/office/officeart/2008/layout/LinedList"/>
    <dgm:cxn modelId="{5B8B4A47-36FE-5645-B62E-DA05090D7F55}" type="presParOf" srcId="{B13E4530-5E15-A24D-B8C0-B2B0C976EA85}" destId="{46759B06-D33A-FF40-9F32-FAA7B2704E5E}" srcOrd="3" destOrd="0" presId="urn:microsoft.com/office/officeart/2008/layout/LinedList"/>
    <dgm:cxn modelId="{774DF84F-E541-1F4D-BE58-0F3818F0C2A9}" type="presParOf" srcId="{46759B06-D33A-FF40-9F32-FAA7B2704E5E}" destId="{F468911B-8A76-9D48-9959-D24CC3DB5162}" srcOrd="0" destOrd="0" presId="urn:microsoft.com/office/officeart/2008/layout/LinedList"/>
    <dgm:cxn modelId="{2175644A-C7EA-2845-8B2C-217D597C8591}" type="presParOf" srcId="{46759B06-D33A-FF40-9F32-FAA7B2704E5E}" destId="{A27101ED-3B0D-174F-AD73-38D6383ADD48}" srcOrd="1" destOrd="0" presId="urn:microsoft.com/office/officeart/2008/layout/LinedList"/>
    <dgm:cxn modelId="{44155338-F6D9-7244-84C0-57A596508F0F}" type="presParOf" srcId="{B13E4530-5E15-A24D-B8C0-B2B0C976EA85}" destId="{10DF315D-BD88-9A48-8D35-4BE645C47254}" srcOrd="4" destOrd="0" presId="urn:microsoft.com/office/officeart/2008/layout/LinedList"/>
    <dgm:cxn modelId="{73487CCC-B4CB-E14D-A0EB-C7842D030007}" type="presParOf" srcId="{B13E4530-5E15-A24D-B8C0-B2B0C976EA85}" destId="{7654AE58-BF6E-C84F-A898-01D0C4D7C2D8}" srcOrd="5" destOrd="0" presId="urn:microsoft.com/office/officeart/2008/layout/LinedList"/>
    <dgm:cxn modelId="{BF92556F-0225-8643-B550-7ACD206433A9}" type="presParOf" srcId="{7654AE58-BF6E-C84F-A898-01D0C4D7C2D8}" destId="{D61B7F14-51EF-D74E-A15E-B655282B658B}" srcOrd="0" destOrd="0" presId="urn:microsoft.com/office/officeart/2008/layout/LinedList"/>
    <dgm:cxn modelId="{C7D261AB-B1CB-CC44-ABDE-0E026C67D467}" type="presParOf" srcId="{7654AE58-BF6E-C84F-A898-01D0C4D7C2D8}" destId="{C41E495F-B15A-5840-B96E-75856A3B2D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21CF8-E605-FD44-984E-74063CB44AE1}">
      <dsp:nvSpPr>
        <dsp:cNvPr id="0" name=""/>
        <dsp:cNvSpPr/>
      </dsp:nvSpPr>
      <dsp:spPr>
        <a:xfrm>
          <a:off x="0" y="592834"/>
          <a:ext cx="5000124" cy="1374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Reading: 'Data Storytelling: The Essential Data Science Skill' — Brent Dykes (Forbes)</a:t>
          </a:r>
        </a:p>
      </dsp:txBody>
      <dsp:txXfrm>
        <a:off x="67110" y="659944"/>
        <a:ext cx="4865904" cy="1240530"/>
      </dsp:txXfrm>
    </dsp:sp>
    <dsp:sp modelId="{A4D7047F-0732-D047-ABCD-F2BF12ED2B2D}">
      <dsp:nvSpPr>
        <dsp:cNvPr id="0" name=""/>
        <dsp:cNvSpPr/>
      </dsp:nvSpPr>
      <dsp:spPr>
        <a:xfrm>
          <a:off x="0" y="2039585"/>
          <a:ext cx="5000124" cy="137475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Activity: Analyse a dataset and create a narrative highlighting insights with visualisations</a:t>
          </a:r>
        </a:p>
      </dsp:txBody>
      <dsp:txXfrm>
        <a:off x="67110" y="2106695"/>
        <a:ext cx="4865904" cy="1240530"/>
      </dsp:txXfrm>
    </dsp:sp>
    <dsp:sp modelId="{6B4547AD-F2BE-FC4C-B8D7-B692210113D6}">
      <dsp:nvSpPr>
        <dsp:cNvPr id="0" name=""/>
        <dsp:cNvSpPr/>
      </dsp:nvSpPr>
      <dsp:spPr>
        <a:xfrm>
          <a:off x="0" y="3486335"/>
          <a:ext cx="5000124" cy="137475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Focus: difference between exploratory (find signal) and explanatory (present signal) analysis</a:t>
          </a:r>
        </a:p>
      </dsp:txBody>
      <dsp:txXfrm>
        <a:off x="67110" y="3553445"/>
        <a:ext cx="4865904" cy="12405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FC976-3DAB-A243-9B72-E8DB18455BB6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5BD0B1-D2C1-7F42-987D-C2BFA4B41791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Lecture + reading: 'Fundamentals of Data Visualization' — Claus O. Wilke</a:t>
          </a:r>
        </a:p>
      </dsp:txBody>
      <dsp:txXfrm>
        <a:off x="0" y="2663"/>
        <a:ext cx="5000124" cy="1816197"/>
      </dsp:txXfrm>
    </dsp:sp>
    <dsp:sp modelId="{8C265730-DDE6-614F-A9C7-6C1526F639A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9B257F-7478-644D-9A11-20E4F5136E7D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Techniques: scatterplot matrices, parallel coordinates, heatmaps, small multiples</a:t>
          </a:r>
        </a:p>
      </dsp:txBody>
      <dsp:txXfrm>
        <a:off x="0" y="1818861"/>
        <a:ext cx="5000124" cy="1816197"/>
      </dsp:txXfrm>
    </dsp:sp>
    <dsp:sp modelId="{7B942121-F44E-9643-B2E9-7A40B6D7D43C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A36FA3-8AAB-C943-8E19-CE8D8A90DAA7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Activity: Build multivariate plots using R (ggplot2) or Python (matplotlib, seaborn, plotly)</a:t>
          </a:r>
        </a:p>
      </dsp:txBody>
      <dsp:txXfrm>
        <a:off x="0" y="3635058"/>
        <a:ext cx="5000124" cy="18161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CF709-DF2A-FC43-BDAE-B50E04019E48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C56BF2-B288-A043-8886-484B60FE5534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Reading: 'The Ethics of Data Visualization' — Alberto Cairo (TED talk) (</a:t>
          </a:r>
          <a:r>
            <a:rPr lang="en-GB" sz="1400" kern="1200" dirty="0">
              <a:hlinkClick xmlns:r="http://schemas.openxmlformats.org/officeDocument/2006/relationships" r:id="rId1"/>
            </a:rPr>
            <a:t>https://www.nationalgeographic.com/adventure/article/151016-data-points-alberto-cairo-interview</a:t>
          </a:r>
          <a:r>
            <a:rPr lang="en-GB" sz="1400" kern="1200" dirty="0"/>
            <a:t>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0" y="2663"/>
        <a:ext cx="5000124" cy="1816197"/>
      </dsp:txXfrm>
    </dsp:sp>
    <dsp:sp modelId="{3C06485C-59DE-3040-8332-CA683A437BC1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E32587-B09A-C14F-B821-A754BEEB6D6F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Activities: Critique visualisations for misleading representations and bias</a:t>
          </a:r>
        </a:p>
      </dsp:txBody>
      <dsp:txXfrm>
        <a:off x="0" y="1818861"/>
        <a:ext cx="5000124" cy="1816197"/>
      </dsp:txXfrm>
    </dsp:sp>
    <dsp:sp modelId="{BC436D6B-C4EA-E040-A193-D78800077E64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3415D2-3A58-2842-83E9-699B16D9105D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Topics: scale manipulation, selective omission, misleading color, accessibility</a:t>
          </a:r>
        </a:p>
      </dsp:txBody>
      <dsp:txXfrm>
        <a:off x="0" y="3635058"/>
        <a:ext cx="5000124" cy="18161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16D8D-AF73-6B45-BFD7-A151253A5E3A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0EBECB-5016-3B42-84D4-BD2E00765CD3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Tutorials: R (ggplot2, plotly) or Python (matplotlib, seaborn, plotly, streamlit)</a:t>
          </a:r>
        </a:p>
      </dsp:txBody>
      <dsp:txXfrm>
        <a:off x="0" y="2663"/>
        <a:ext cx="5000124" cy="1816197"/>
      </dsp:txXfrm>
    </dsp:sp>
    <dsp:sp modelId="{C5F8E765-2569-FD48-9CAF-FB1E02A8AF6D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68911B-8A76-9D48-9959-D24CC3DB5162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Activities: Hands-on sessions to create interactive visualisations and dashboards</a:t>
          </a:r>
        </a:p>
      </dsp:txBody>
      <dsp:txXfrm>
        <a:off x="0" y="1818861"/>
        <a:ext cx="5000124" cy="1816197"/>
      </dsp:txXfrm>
    </dsp:sp>
    <dsp:sp modelId="{10DF315D-BD88-9A48-8D35-4BE645C47254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1B7F14-51EF-D74E-A15E-B655282B658B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Emphasise reproducibility: notebooks, version control, and narrative cells</a:t>
          </a:r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02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Overview slide. This deck converts the provided module content into instructor-facing lecture slides with exercises and solution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the reading link and highlight storytelling as a communication skill: context, insight,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examples live. Use small multiples and interactivity for large-dimensional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 short critique exercise: show an intentionally misleading chart and ask students to identify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notebooks (Jupyter) and deployment options (Streamlit) for interactive storytelling.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active titles: slide titles should read like conclusions rather than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short example live; show how the narrative arc reduces cognitive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which direction they'd like to explore; consider mixing all three across the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assessment criteria: clarity of narrative, correctness of analysis, strength of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should focus on the 'so what' and present short, annotated slides for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and run this cell in a notebook. Explain the 'villain' and 'hero' injections.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heatmap or grouped bar chart. Ask students to annotate critical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formula and a worked example to help students compute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A/B test proposal for engagement interventions as further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to compute churn rates and interpret heatmap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converting churn to monetary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annotation for the 'hero zone' and threshold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Rubric suggestions: 50% narrative &amp; recommendations, 30% technical correctness, 20% presentation/annotations.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example storyboard and link to Scott Klemmer video in class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 short group-work activity where groups produce a transition script for provided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'complex_diagram.png' to illustrate loss of audience; ask students to simplify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links in the course LMS. Encourage students to prototype an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655995" cy="5156800"/>
          </a:xfrm>
        </p:spPr>
        <p:txBody>
          <a:bodyPr anchor="ctr">
            <a:normAutofit/>
          </a:bodyPr>
          <a:lstStyle/>
          <a:p>
            <a:pPr algn="l"/>
            <a:r>
              <a:rPr lang="en-GB" sz="4200">
                <a:solidFill>
                  <a:schemeClr val="bg1"/>
                </a:solidFill>
              </a:rPr>
              <a:t>Data Storytelling &amp;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1015" y="841664"/>
            <a:ext cx="3650704" cy="5156800"/>
          </a:xfrm>
        </p:spPr>
        <p:txBody>
          <a:bodyPr anchor="ctr">
            <a:normAutofit/>
          </a:bodyPr>
          <a:lstStyle/>
          <a:p>
            <a:pPr algn="l"/>
            <a:r>
              <a:rPr lang="en-GB">
                <a:solidFill>
                  <a:schemeClr val="tx2"/>
                </a:solidFill>
              </a:rPr>
              <a:t>Module: Principles, Multivariate Visualisation, Ethics, and Practical Coding</a:t>
            </a:r>
          </a:p>
          <a:p>
            <a:pPr algn="l"/>
            <a:r>
              <a:rPr lang="en-GB">
                <a:solidFill>
                  <a:schemeClr val="tx2"/>
                </a:solidFill>
              </a:rPr>
              <a:t>Course materials and exercises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Principles of Data Storytelling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D0199B-5802-D88D-F51F-1240BB247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63551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200">
                <a:solidFill>
                  <a:srgbClr val="FFFFFF"/>
                </a:solidFill>
              </a:rPr>
              <a:t>Multivariate Visualisation Techniques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49D333-B2F3-4869-6CDD-BDB694F8B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6334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2700">
                <a:solidFill>
                  <a:srgbClr val="FFFFFF"/>
                </a:solidFill>
              </a:rPr>
              <a:t>Ethical Considerations in Data Visualization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F4C193-B38B-2087-02B3-C002CF3D47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19903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Practical Coding Skills for Storytelling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8928C-144B-F86E-4B12-2F4FB5233B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16972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More Resources &amp; The 'So What?'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Bridge raw analysis to meaningful action; translate metrics into business impacts</a:t>
            </a:r>
          </a:p>
          <a:p>
            <a:pPr>
              <a:defRPr sz="1800"/>
            </a:pPr>
            <a:r>
              <a:t>Narrative techniques: Context-Complication-Resolution</a:t>
            </a:r>
          </a:p>
          <a:p>
            <a:pPr>
              <a:defRPr sz="1800"/>
            </a:pPr>
            <a:r>
              <a:t>Visual hierarchy: declutter charts; focus stakeholder eye on key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Narrative Structure: Context-Complication-Resolution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Context: Establish baseline (e.g. 10,000 monthly active users)</a:t>
            </a:r>
          </a:p>
          <a:p>
            <a:pPr>
              <a:defRPr sz="1800"/>
            </a:pPr>
            <a:r>
              <a:t>Complication: Inciting incident (e.g. 20% drop in retention)</a:t>
            </a:r>
          </a:p>
          <a:p>
            <a:pPr>
              <a:defRPr sz="1800"/>
            </a:pPr>
            <a:r>
              <a:t>Resolution: Data-driven recommendation (e.g. fix onboarding -&gt; recover revenue)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go next (choices)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1) Storytelling Arc Frameworks: Freytag's Pyramid, Action-Result mapping</a:t>
            </a:r>
          </a:p>
          <a:p>
            <a:pPr>
              <a:defRPr sz="1800"/>
            </a:pPr>
            <a:r>
              <a:t>2) Coding the Narrative: Jupyter Notebooks + Streamlit for integrated stories</a:t>
            </a:r>
          </a:p>
          <a:p>
            <a:pPr>
              <a:defRPr sz="1800"/>
            </a:pPr>
            <a:r>
              <a:t>3) 'Find the Hero' Exercise: identify villain (problem) and hero (solution) in a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Exercise: 'The Churn Chronicles'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Scenario: Lead analyst for 'Stream-It' streaming service facing revenue dip</a:t>
            </a:r>
          </a:p>
          <a:p>
            <a:pPr>
              <a:defRPr sz="1800"/>
            </a:pPr>
            <a:r>
              <a:t>Goal: Identify the 'Villain' (where money is lost) and the 'Hero' (what will fix it)</a:t>
            </a:r>
          </a:p>
          <a:p>
            <a:pPr>
              <a:defRPr sz="1800"/>
            </a:pPr>
            <a:r>
              <a:t>Deliverable: 3 visual chapters + annotations and recommendation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Exercise Setup: Student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Stakeholders: Marketing &amp; Product; they want concise, persuasive insights</a:t>
            </a:r>
          </a:p>
          <a:p>
            <a:pPr>
              <a:defRPr sz="1800"/>
            </a:pPr>
            <a:r>
              <a:t>Questions to answer: Where are we losing money? How do we stop it?</a:t>
            </a:r>
          </a:p>
          <a:p>
            <a:pPr>
              <a:defRPr sz="1800"/>
            </a:pPr>
            <a:r>
              <a:t>Dataset: synthetic dataset provided (Subscription_Type, Monthly_Charges, Region, Churned, Support Calls, Engagement)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Synthetic Dataset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import pandas as pd</a:t>
            </a:r>
          </a:p>
          <a:p>
            <a:pPr>
              <a:defRPr sz="1200">
                <a:latin typeface="Courier New"/>
              </a:defRPr>
            </a:pPr>
            <a:r>
              <a:t>import numpy as np</a:t>
            </a:r>
          </a:p>
          <a:p>
            <a:pPr>
              <a:defRPr sz="1200">
                <a:latin typeface="Courier New"/>
              </a:defRPr>
            </a:pPr>
            <a:r>
              <a:t>np.random.seed(42)</a:t>
            </a:r>
          </a:p>
          <a:p>
            <a:pPr>
              <a:defRPr sz="1200">
                <a:latin typeface="Courier New"/>
              </a:defRPr>
            </a:pPr>
            <a:r>
              <a:t>n_users = 1000</a:t>
            </a:r>
          </a:p>
          <a:p>
            <a:pPr>
              <a:defRPr sz="1200">
                <a:latin typeface="Courier New"/>
              </a:defRPr>
            </a:pPr>
            <a:r>
              <a:t>data = {</a:t>
            </a:r>
          </a:p>
          <a:p>
            <a:pPr>
              <a:defRPr sz="1200">
                <a:latin typeface="Courier New"/>
              </a:defRPr>
            </a:pPr>
            <a:r>
              <a:t>    'User_ID': range(n_users),</a:t>
            </a:r>
          </a:p>
          <a:p>
            <a:pPr>
              <a:defRPr sz="1200">
                <a:latin typeface="Courier New"/>
              </a:defRPr>
            </a:pPr>
            <a:r>
              <a:t>    'Subscription_Type': np.random.choice(['Basic','Premium','Family'], n_users),</a:t>
            </a:r>
          </a:p>
          <a:p>
            <a:pPr>
              <a:defRPr sz="1200">
                <a:latin typeface="Courier New"/>
              </a:defRPr>
            </a:pPr>
            <a:r>
              <a:t>    'Monthly_Charges': np.random.uniform(10,30,n_users),</a:t>
            </a:r>
          </a:p>
          <a:p>
            <a:pPr>
              <a:defRPr sz="1200">
                <a:latin typeface="Courier New"/>
              </a:defRPr>
            </a:pPr>
            <a:r>
              <a:t>    'Region': np.random.choice(['North','South','East','West'], n_users),</a:t>
            </a:r>
          </a:p>
          <a:p>
            <a:pPr>
              <a:defRPr sz="1200">
                <a:latin typeface="Courier New"/>
              </a:defRPr>
            </a:pPr>
            <a:r>
              <a:t>    'Churned': np.random.choice([0,1], n_users, p=[0.7,0.3]),</a:t>
            </a:r>
          </a:p>
          <a:p>
            <a:pPr>
              <a:defRPr sz="1200">
                <a:latin typeface="Courier New"/>
              </a:defRPr>
            </a:pPr>
            <a:r>
              <a:t>    'Customer_Support_Calls': np.random.poisson(2,n_users),</a:t>
            </a:r>
          </a:p>
          <a:p>
            <a:pPr>
              <a:defRPr sz="1200">
                <a:latin typeface="Courier New"/>
              </a:defRPr>
            </a:pPr>
            <a:r>
              <a:t>    'App_Engagement_Score': np.random.normal(50,15,n_users)</a:t>
            </a:r>
          </a:p>
          <a:p>
            <a:pPr>
              <a:defRPr sz="1200">
                <a:latin typeface="Courier New"/>
              </a:defRPr>
            </a:pPr>
            <a:r>
              <a:t>}</a:t>
            </a:r>
          </a:p>
          <a:p>
            <a:pPr>
              <a:defRPr sz="1200">
                <a:latin typeface="Courier New"/>
              </a:defRPr>
            </a:pPr>
            <a:r>
              <a:t>df = pd.DataFrame(data)</a:t>
            </a:r>
          </a:p>
          <a:p>
            <a:pPr>
              <a:defRPr sz="1200">
                <a:latin typeface="Courier New"/>
              </a:defRPr>
            </a:pPr>
            <a:r>
              <a:t># Inject villain and hero</a:t>
            </a:r>
          </a:p>
          <a:p>
            <a:pPr>
              <a:defRPr sz="1200">
                <a:latin typeface="Courier New"/>
              </a:defRPr>
            </a:pPr>
            <a:r>
              <a:t>df.loc[(df['Subscription_Type']=='Basic') &amp; (df['Customer_Support_Calls']&gt;3),'Churned'] = 1</a:t>
            </a:r>
          </a:p>
          <a:p>
            <a:pPr>
              <a:defRPr sz="1200">
                <a:latin typeface="Courier New"/>
              </a:defRPr>
            </a:pPr>
            <a:r>
              <a:t>df.loc[df['App_Engagement_Score']&gt;70,'Churned'] = 0</a:t>
            </a:r>
          </a:p>
          <a:p>
            <a:pPr>
              <a:defRPr sz="1200">
                <a:latin typeface="Courier New"/>
              </a:defRPr>
            </a:pPr>
            <a:r>
              <a:t>print(df.head())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Chapter 1: The Inciting Incident (The Villain)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Show churn concentration (e.g., Basic users with &gt;3 support calls)</a:t>
            </a:r>
          </a:p>
          <a:p>
            <a:pPr>
              <a:defRPr sz="1800"/>
            </a:pPr>
            <a:r>
              <a:t>Student Task: Visualise churn by Subscription_Type and Support Calls (heatmap or bar chart)</a:t>
            </a:r>
          </a:p>
          <a:p>
            <a:pPr>
              <a:defRPr sz="1800"/>
            </a:pPr>
            <a:r>
              <a:t>Annotation: Active title and a short explanation of critical zone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Chapter 2: The Stakes (Business 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Translate churn into lost revenue (Monthly_Charges * Churned)</a:t>
            </a:r>
          </a:p>
          <a:p>
            <a:pPr>
              <a:defRPr sz="1800"/>
            </a:pPr>
            <a:r>
              <a:t>Task: Calculate lost revenue by subscription tier and visualise (bar chart)</a:t>
            </a:r>
          </a:p>
          <a:p>
            <a:pPr>
              <a:defRPr sz="1800"/>
            </a:pPr>
            <a:r>
              <a:t>Annotation: Convert technical numbers into stakeholder-relevant $ amounts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The Hero's Arrival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Find success segment (high App_Engagement_Score -&gt; low churn)</a:t>
            </a:r>
          </a:p>
          <a:p>
            <a:pPr>
              <a:defRPr sz="1800"/>
            </a:pPr>
            <a:r>
              <a:t>Task: Analyse engagement vs churn and propose an 'Engagement Campaign' for Basic users</a:t>
            </a:r>
          </a:p>
          <a:p>
            <a:pPr>
              <a:defRPr sz="1800"/>
            </a:pPr>
            <a:r>
              <a:t>Annotation: Active title e.g., 'THE HERO: High engagement reduces churn'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Chapter 1 (Heatmap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heatmap_data = df.groupby(['Subscription_Type','Customer_Support_Calls'])['Churned'].mean().unstack()</a:t>
            </a:r>
          </a:p>
          <a:p>
            <a:pPr>
              <a:defRPr sz="1200">
                <a:latin typeface="Courier New"/>
              </a:defRPr>
            </a:pPr>
            <a:r>
              <a:t>sns.heatmap(heatmap_data, annot=True, fmt='.1f', cbar=False)</a:t>
            </a:r>
          </a:p>
          <a:p>
            <a:pPr>
              <a:defRPr sz="1200">
                <a:latin typeface="Courier New"/>
              </a:defRPr>
            </a:pPr>
            <a:r>
              <a:t>plt.title('THE VILLAIN: Support friction is killing Basic tier')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Chapter 2 (Revenue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lost_revenue = df[df['Churned'] == 1].groupby('Subscription_Type')['Monthly_Charges'].sum()</a:t>
            </a:r>
          </a:p>
          <a:p>
            <a:pPr>
              <a:defRPr sz="1200">
                <a:latin typeface="Courier New"/>
              </a:defRPr>
            </a:pPr>
            <a:r>
              <a:t>sns.barplot(x=lost_revenue.index, y=lost_revenue.values)</a:t>
            </a:r>
          </a:p>
          <a:p>
            <a:pPr>
              <a:defRPr sz="1200">
                <a:latin typeface="Courier New"/>
              </a:defRPr>
            </a:pPr>
            <a:r>
              <a:t>plt.title('THE STAKES: Lost monthly revenue by tier')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Chapter 3 (Engagement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sns.kdeplot(data=df[df['Churned']==0], x='App_Engagement_Score', fill=True, label='Retained')</a:t>
            </a:r>
          </a:p>
          <a:p>
            <a:pPr>
              <a:defRPr sz="1200">
                <a:latin typeface="Courier New"/>
              </a:defRPr>
            </a:pPr>
            <a:r>
              <a:t>sns.kdeplot(data=df[df['Churned']==1], x='App_Engagement_Score', fill=True, label='Churned')</a:t>
            </a:r>
          </a:p>
          <a:p>
            <a:pPr>
              <a:defRPr sz="1200">
                <a:latin typeface="Courier New"/>
              </a:defRPr>
            </a:pPr>
            <a:r>
              <a:t>plt.axvline(75, linestyle='--')</a:t>
            </a:r>
          </a:p>
          <a:p>
            <a:pPr>
              <a:defRPr sz="1200">
                <a:latin typeface="Courier New"/>
              </a:defRPr>
            </a:pPr>
            <a:r>
              <a:t>plt.title('THE HERO: High app engagement is a churn vaccine')</a:t>
            </a:r>
          </a:p>
          <a:p>
            <a:pPr>
              <a:defRPr sz="1200"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Clarity of narrative (Context-Complication-Resolution)</a:t>
            </a:r>
          </a:p>
          <a:p>
            <a:pPr>
              <a:defRPr sz="1800"/>
            </a:pPr>
            <a:r>
              <a:t>Technical correctness of analysis and code</a:t>
            </a:r>
          </a:p>
          <a:p>
            <a:pPr>
              <a:defRPr sz="1800"/>
            </a:pPr>
            <a:r>
              <a:t>Quality of annotations and 'so what' translation for stakeholders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Storyboarding &amp;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Story skeleton: panels that specify sequence, persona, and key takeaway</a:t>
            </a:r>
          </a:p>
          <a:p>
            <a:pPr>
              <a:defRPr sz="1800"/>
            </a:pPr>
            <a:r>
              <a:t>Exercises: Metadata Map, Skeleton Plotter, Narrative Audit</a:t>
            </a:r>
          </a:p>
          <a:p>
            <a:pPr>
              <a:defRPr sz="1800"/>
            </a:pPr>
            <a:r>
              <a:t>Tools: paper prototypes, sticky notes, rapid sketches, digital mockups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Logic Leap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Given disconnected charts, students write transition scripts (Observation -&gt; Question -&gt; Bridge)</a:t>
            </a:r>
          </a:p>
          <a:p>
            <a:pPr>
              <a:defRPr sz="1800"/>
            </a:pPr>
            <a:r>
              <a:t>Assess causal reasoning and smooth transitions between charts</a:t>
            </a:r>
          </a:p>
          <a:p>
            <a:pPr>
              <a:defRPr sz="1800"/>
            </a:pPr>
            <a:r>
              <a:t>Example structure provided as a Python dictionary for students to submit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Not To Communicate: Bad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Overly complex visuals confuse non-expert stakeholders</a:t>
            </a:r>
          </a:p>
          <a:p>
            <a:pPr>
              <a:defRPr sz="1800"/>
            </a:pPr>
            <a:r>
              <a:t>Keep visuals simple, annotated, and accessible</a:t>
            </a:r>
          </a:p>
          <a:p>
            <a:pPr>
              <a:defRPr sz="1800"/>
            </a:pPr>
            <a:r>
              <a:t>Use active titles and remove chart-junk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 Prototyping Tools &amp; Reading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Tools: Lovable, Replit, Cursor, Google AI Studio, Base44</a:t>
            </a:r>
          </a:p>
          <a:p>
            <a:pPr>
              <a:defRPr sz="1800"/>
            </a:pPr>
            <a:r>
              <a:t>Readings: 'The User Experience' (JJG Elements chapter) + assignment.md</a:t>
            </a:r>
          </a:p>
          <a:p>
            <a:pPr>
              <a:defRPr sz="1800"/>
            </a:pPr>
            <a:r>
              <a:t>Next: Assignment instructions (see course repo / assignment.md)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1589</Words>
  <Application>Microsoft Macintosh PowerPoint</Application>
  <PresentationFormat>On-screen Show (4:3)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Data Storytelling &amp; Communication</vt:lpstr>
      <vt:lpstr>Principles of Data Storytelling</vt:lpstr>
      <vt:lpstr>Multivariate Visualisation Techniques</vt:lpstr>
      <vt:lpstr>Ethical Considerations in Data Visualization</vt:lpstr>
      <vt:lpstr>Practical Coding Skills for Storytelling</vt:lpstr>
      <vt:lpstr>More Resources &amp; The 'So What?' Factor</vt:lpstr>
      <vt:lpstr>Narrative Structure: Context-Complication-Resolution</vt:lpstr>
      <vt:lpstr>Where to go next (choices)</vt:lpstr>
      <vt:lpstr>Exercise: 'The Churn Chronicles' (Overview)</vt:lpstr>
      <vt:lpstr>Exercise Setup: Student Instructions</vt:lpstr>
      <vt:lpstr>Exercise: Synthetic Dataset (code)</vt:lpstr>
      <vt:lpstr>Chapter 1: The Inciting Incident (The Villain)</vt:lpstr>
      <vt:lpstr>Chapter 2: The Stakes (Business Impact)</vt:lpstr>
      <vt:lpstr>Chapter 3: The Hero's Arrival</vt:lpstr>
      <vt:lpstr>Solution: Chapter 1 (Heatmap code)</vt:lpstr>
      <vt:lpstr>Solution: Chapter 2 (Revenue code)</vt:lpstr>
      <vt:lpstr>Solution: Chapter 3 (Engagement code)</vt:lpstr>
      <vt:lpstr>Evaluation Criteria</vt:lpstr>
      <vt:lpstr>Storyboarding &amp; Prototyping</vt:lpstr>
      <vt:lpstr>Exercise: Logic Leap Audit</vt:lpstr>
      <vt:lpstr>How Not To Communicate: Bad Diagram</vt:lpstr>
      <vt:lpstr>AI Prototyping Tools &amp; Reading Materials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 Banerjee</cp:lastModifiedBy>
  <cp:revision>5</cp:revision>
  <dcterms:created xsi:type="dcterms:W3CDTF">2013-01-27T09:14:16Z</dcterms:created>
  <dcterms:modified xsi:type="dcterms:W3CDTF">2026-02-24T11:21:24Z</dcterms:modified>
  <cp:category/>
</cp:coreProperties>
</file>