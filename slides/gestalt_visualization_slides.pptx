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Lesson: Gestalt principles applied to data visualization. Include examples and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historical context briefly and link to perception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principle with a quick visual example or pointer to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before/after examples in class; ask students to re-space a crowded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color choices and colorblind-friendly palettes.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smoothing and how continuity can imply causality if misused.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Caution: don't rely on closure to hide missing data; be transparent.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poor figure-ground can bury the key signal in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Colab notebook live if possible. Link: https://github.com/neelsoumya/visualization_lecture/blob/main/gestalt_visualization.ipynb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color selection and grouping; mention colorblind palettes.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grouping and spacing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smoothing, markers, and when continuity helps or misleads.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limitations of pie charts and use cases for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about color scales, annotation, and contrast for figure-ground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Caveat: emphasize limitations of dimensionality reduction and misleading cluster interpretations.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preattentive features with quick visual tests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against overusing red/green for colorblind audiences; recommend palettes (ColorBrewer).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glyph examples and discuss trade-offs between expressiveness and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 short demo of change blindness if possible; show before/after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examples (e.g., misleading 3D bars) and ask students to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Jacques Bertin — Semiology of Graphics (excerpt PDF).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examples and discuss when to use each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'vibration' image if available and discuss Tufte's chartjunk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starter files and rubric: clarity (40%), effectiveness (40%), presentation (20%).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links in LMS; encourage students to read selected chapters as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prepare one messy chart for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Gestalt Theory of 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Principles, examples, perception, and practical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Origin: Gestalt theory (psychology) — humans perceive organized wholes, not just parts.</a:t>
            </a:r>
          </a:p>
          <a:p>
            <a:pPr>
              <a:defRPr sz="1600"/>
            </a:pPr>
            <a:r>
              <a:t>Goal: Apply Gestalt principles to improve clarity and interpretability of visualizations.</a:t>
            </a:r>
          </a:p>
          <a:p>
            <a:pPr>
              <a:defRPr sz="1600"/>
            </a:pPr>
            <a:r>
              <a:t>Key takeaways: use proximity, similarity, continuity, closure, figure-ground, and preattentive cues.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Gestalt Principles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Proximity — group related elements by placing them close together.</a:t>
            </a:r>
          </a:p>
          <a:p>
            <a:pPr>
              <a:defRPr sz="1600"/>
            </a:pPr>
            <a:r>
              <a:t>Similarity — use consistent color/shape/size to indicate relatedness.</a:t>
            </a:r>
          </a:p>
          <a:p>
            <a:pPr>
              <a:defRPr sz="1600"/>
            </a:pPr>
            <a:r>
              <a:t>Continuity — design smooth flows to guide the eye along patterns.</a:t>
            </a:r>
          </a:p>
          <a:p>
            <a:pPr>
              <a:defRPr sz="1600"/>
            </a:pPr>
            <a:r>
              <a:t>Closure — suggest complete forms so the mind fills gaps.</a:t>
            </a:r>
          </a:p>
          <a:p>
            <a:pPr>
              <a:defRPr sz="1600"/>
            </a:pPr>
            <a:r>
              <a:t>Figure–Ground — distinguish important data from background using contrast.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Definition: items close together perceived as related.</a:t>
            </a:r>
          </a:p>
          <a:p>
            <a:pPr>
              <a:defRPr sz="1600"/>
            </a:pPr>
            <a:r>
              <a:t>Viz tip: group categories, cluster related bars, use spacing to create sections.</a:t>
            </a:r>
          </a:p>
          <a:p>
            <a:pPr>
              <a:defRPr sz="1600"/>
            </a:pPr>
            <a:r>
              <a:t>Example: grouped bar charts, clustered heatmaps.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Definition: visual similarity signals grouping (color, shape, size).</a:t>
            </a:r>
          </a:p>
          <a:p>
            <a:pPr>
              <a:defRPr sz="1600"/>
            </a:pPr>
            <a:r>
              <a:t>Viz tip: consistent color palettes for categories; avoid using many shapes unnecessarily.</a:t>
            </a:r>
          </a:p>
          <a:p>
            <a:pPr>
              <a:defRPr sz="1600"/>
            </a:pPr>
            <a:r>
              <a:t>Example: color-coded scatter plots to highlight clusters.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Definition: the eye follows continuous lines and smooth progressions.</a:t>
            </a:r>
          </a:p>
          <a:p>
            <a:pPr>
              <a:defRPr sz="1600"/>
            </a:pPr>
            <a:r>
              <a:t>Viz tip: use line plots and smooth transitions; align axes and series.</a:t>
            </a:r>
          </a:p>
          <a:p>
            <a:pPr>
              <a:defRPr sz="1600"/>
            </a:pPr>
            <a:r>
              <a:t>Example: trend lines, connected scatter plots, streamgraphs.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Definition: the tendency to perceive complete forms from partial information.</a:t>
            </a:r>
          </a:p>
          <a:p>
            <a:pPr>
              <a:defRPr sz="1600"/>
            </a:pPr>
            <a:r>
              <a:t>Viz tip: use implied shapes and annotations to engage viewers; avoid ambiguous gaps.</a:t>
            </a:r>
          </a:p>
          <a:p>
            <a:pPr>
              <a:defRPr sz="1600"/>
            </a:pPr>
            <a:r>
              <a:t>Example: donut/pie charts that invite the eye to 'close' the circle.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Figure–Ground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Definition: distinguish foreground (figure) from background (ground).</a:t>
            </a:r>
          </a:p>
          <a:p>
            <a:pPr>
              <a:defRPr sz="1600"/>
            </a:pPr>
            <a:r>
              <a:t>Viz tip: use contrast, whitespace, and subtle backgrounds to highlight the figure.</a:t>
            </a:r>
          </a:p>
          <a:p>
            <a:pPr>
              <a:defRPr sz="1600"/>
            </a:pPr>
            <a:r>
              <a:t>Example: spotlighting a line in a multi-series chart by dimming others.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&amp; Code (Colab)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Google Colab notebook: gestalt_visualization.ipynb (GitHub link provided)</a:t>
            </a:r>
          </a:p>
          <a:p>
            <a:pPr>
              <a:defRPr sz="1600"/>
            </a:pPr>
            <a:r>
              <a:t>Scatter plot (Similarity): color-coded points to indicate groups.</a:t>
            </a:r>
          </a:p>
          <a:p>
            <a:pPr>
              <a:defRPr sz="1600"/>
            </a:pPr>
            <a:r>
              <a:t>Bar chart (Proximity): grouped bars placed close together.</a:t>
            </a:r>
          </a:p>
          <a:p>
            <a:pPr>
              <a:defRPr sz="1600"/>
            </a:pPr>
            <a:r>
              <a:t>Line graph (Continuity), Pie/Donut (Closure), Heatmap (Figure–Ground).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Example: Scatter Plot (Similarity)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matplotlib.pyplot as plt</a:t>
            </a:r>
          </a:p>
          <a:p>
            <a:pPr>
              <a:defRPr sz="1200">
                <a:latin typeface="Courier New"/>
              </a:defRPr>
            </a:pPr>
            <a:r>
              <a:t>import numpy as np</a:t>
            </a:r>
          </a:p>
          <a:p>
            <a:pPr>
              <a:defRPr sz="1200">
                <a:latin typeface="Courier New"/>
              </a:defRPr>
            </a:pPr>
            <a:r>
              <a:t># Sample data</a:t>
            </a:r>
          </a:p>
          <a:p>
            <a:pPr>
              <a:defRPr sz="1200">
                <a:latin typeface="Courier New"/>
              </a:defRPr>
            </a:pPr>
            <a:r>
              <a:t>x = np.random.rand(50)</a:t>
            </a:r>
          </a:p>
          <a:p>
            <a:pPr>
              <a:defRPr sz="1200">
                <a:latin typeface="Courier New"/>
              </a:defRPr>
            </a:pPr>
            <a:r>
              <a:t>y = np.random.rand(50)</a:t>
            </a:r>
          </a:p>
          <a:p>
            <a:pPr>
              <a:defRPr sz="1200">
                <a:latin typeface="Courier New"/>
              </a:defRPr>
            </a:pPr>
            <a:r>
              <a:t>colors = np.random.choice(['red','blue'], size=50)</a:t>
            </a:r>
          </a:p>
          <a:p>
            <a:pPr>
              <a:defRPr sz="1200">
                <a:latin typeface="Courier New"/>
              </a:defRPr>
            </a:pPr>
            <a:r>
              <a:t>plt.scatter(x, y, c=colors)</a:t>
            </a:r>
          </a:p>
          <a:p>
            <a:pPr>
              <a:defRPr sz="1200">
                <a:latin typeface="Courier New"/>
              </a:defRPr>
            </a:pPr>
            <a:r>
              <a:t>plt.title('Scatter Plot with Similarity Principle')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Example: Grouped Bar Chart (Proximity)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matplotlib.pyplot as plt</a:t>
            </a:r>
          </a:p>
          <a:p>
            <a:pPr>
              <a:defRPr sz="1200">
                <a:latin typeface="Courier New"/>
              </a:defRPr>
            </a:pPr>
            <a:r>
              <a:t>import numpy as np</a:t>
            </a:r>
          </a:p>
          <a:p>
            <a:pPr>
              <a:defRPr sz="1200">
                <a:latin typeface="Courier New"/>
              </a:defRPr>
            </a:pPr>
            <a:r>
              <a:t>categories = ['A','B','C','D']</a:t>
            </a:r>
          </a:p>
          <a:p>
            <a:pPr>
              <a:defRPr sz="1200">
                <a:latin typeface="Courier New"/>
              </a:defRPr>
            </a:pPr>
            <a:r>
              <a:t>values1 = [5,7,3,4]</a:t>
            </a:r>
          </a:p>
          <a:p>
            <a:pPr>
              <a:defRPr sz="1200">
                <a:latin typeface="Courier New"/>
              </a:defRPr>
            </a:pPr>
            <a:r>
              <a:t>values2 = [6,8,4,5]</a:t>
            </a:r>
          </a:p>
          <a:p>
            <a:pPr>
              <a:defRPr sz="1200">
                <a:latin typeface="Courier New"/>
              </a:defRPr>
            </a:pPr>
            <a:r>
              <a:t>x = np.arange(len(categories))</a:t>
            </a:r>
          </a:p>
          <a:p>
            <a:pPr>
              <a:defRPr sz="1200">
                <a:latin typeface="Courier New"/>
              </a:defRPr>
            </a:pPr>
            <a:r>
              <a:t>width = 0.35</a:t>
            </a:r>
          </a:p>
          <a:p>
            <a:pPr>
              <a:defRPr sz="1200">
                <a:latin typeface="Courier New"/>
              </a:defRPr>
            </a:pPr>
            <a:r>
              <a:t>plt.bar(x - width/2, values1, width, label='Group 1')</a:t>
            </a:r>
          </a:p>
          <a:p>
            <a:pPr>
              <a:defRPr sz="1200">
                <a:latin typeface="Courier New"/>
              </a:defRPr>
            </a:pPr>
            <a:r>
              <a:t>plt.bar(x + width/2, values2, width, label='Group 2')</a:t>
            </a:r>
          </a:p>
          <a:p>
            <a:pPr>
              <a:defRPr sz="1200">
                <a:latin typeface="Courier New"/>
              </a:defRPr>
            </a:pPr>
            <a:r>
              <a:t>plt.xticks(x, categories)</a:t>
            </a:r>
          </a:p>
          <a:p>
            <a:pPr>
              <a:defRPr sz="1200">
                <a:latin typeface="Courier New"/>
              </a:defRPr>
            </a:pPr>
            <a:r>
              <a:t>plt.title('Bar Chart with Proximity Principle')</a:t>
            </a:r>
          </a:p>
          <a:p>
            <a:pPr>
              <a:defRPr sz="1200">
                <a:latin typeface="Courier New"/>
              </a:defRPr>
            </a:pPr>
            <a:r>
              <a:t>plt.legend()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Example: Line Graph (Continuity)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matplotlib.pyplot as plt</a:t>
            </a:r>
          </a:p>
          <a:p>
            <a:pPr>
              <a:defRPr sz="1200">
                <a:latin typeface="Courier New"/>
              </a:defRPr>
            </a:pPr>
            <a:r>
              <a:t>import numpy as np</a:t>
            </a:r>
          </a:p>
          <a:p>
            <a:pPr>
              <a:defRPr sz="1200">
                <a:latin typeface="Courier New"/>
              </a:defRPr>
            </a:pPr>
            <a:r>
              <a:t>x = np.linspace(0, 10, 100)</a:t>
            </a:r>
          </a:p>
          <a:p>
            <a:pPr>
              <a:defRPr sz="1200">
                <a:latin typeface="Courier New"/>
              </a:defRPr>
            </a:pPr>
            <a:r>
              <a:t>y = np.sin(x)</a:t>
            </a:r>
          </a:p>
          <a:p>
            <a:pPr>
              <a:defRPr sz="1200">
                <a:latin typeface="Courier New"/>
              </a:defRPr>
            </a:pPr>
            <a:r>
              <a:t>plt.plot(x, y)</a:t>
            </a:r>
          </a:p>
          <a:p>
            <a:pPr>
              <a:defRPr sz="1200">
                <a:latin typeface="Courier New"/>
              </a:defRPr>
            </a:pPr>
            <a:r>
              <a:t>plt.title('Line Graph with Continuity Principle')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Example: Pie Chart (Closure)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matplotlib.pyplot as plt</a:t>
            </a:r>
          </a:p>
          <a:p>
            <a:pPr>
              <a:defRPr sz="1200">
                <a:latin typeface="Courier New"/>
              </a:defRPr>
            </a:pPr>
            <a:r>
              <a:t>sizes = [30,20,25,15]</a:t>
            </a:r>
          </a:p>
          <a:p>
            <a:pPr>
              <a:defRPr sz="1200">
                <a:latin typeface="Courier New"/>
              </a:defRPr>
            </a:pPr>
            <a:r>
              <a:t>labels = ['A','B','C','D']</a:t>
            </a:r>
          </a:p>
          <a:p>
            <a:pPr>
              <a:defRPr sz="1200">
                <a:latin typeface="Courier New"/>
              </a:defRPr>
            </a:pPr>
            <a:r>
              <a:t>plt.pie(sizes, labels=labels, startangle=90)</a:t>
            </a:r>
          </a:p>
          <a:p>
            <a:pPr>
              <a:defRPr sz="1200">
                <a:latin typeface="Courier New"/>
              </a:defRPr>
            </a:pPr>
            <a:r>
              <a:t>plt.title('Pie Chart with Closure Principle')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Example: Heatmap (Figure–Ground)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seaborn as sns</a:t>
            </a:r>
          </a:p>
          <a:p>
            <a:pPr>
              <a:defRPr sz="1200">
                <a:latin typeface="Courier New"/>
              </a:defRPr>
            </a:pPr>
            <a:r>
              <a:t>import numpy as np</a:t>
            </a:r>
          </a:p>
          <a:p>
            <a:pPr>
              <a:defRPr sz="1200">
                <a:latin typeface="Courier New"/>
              </a:defRPr>
            </a:pPr>
            <a:r>
              <a:t>import matplotlib.pyplot as plt</a:t>
            </a:r>
          </a:p>
          <a:p>
            <a:pPr>
              <a:defRPr sz="1200">
                <a:latin typeface="Courier New"/>
              </a:defRPr>
            </a:pPr>
            <a:r>
              <a:t>data = np.random.rand(10,10)</a:t>
            </a:r>
          </a:p>
          <a:p>
            <a:pPr>
              <a:defRPr sz="1200">
                <a:latin typeface="Courier New"/>
              </a:defRPr>
            </a:pPr>
            <a:r>
              <a:t>sns.heatmap(data, cmap='coolwarm')</a:t>
            </a:r>
          </a:p>
          <a:p>
            <a:pPr>
              <a:defRPr sz="1200">
                <a:latin typeface="Courier New"/>
              </a:defRPr>
            </a:pPr>
            <a:r>
              <a:t>plt.title('Heatmap with Figure-Ground Principle')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Modern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t-SNE/UMAP: leverage similarity &amp; proximity to reveal clusters (but can mislead without context).</a:t>
            </a:r>
          </a:p>
          <a:p>
            <a:pPr>
              <a:defRPr sz="1600"/>
            </a:pPr>
            <a:r>
              <a:t>Dashboards: use figure–ground and visual hierarchy for quick comprehension.</a:t>
            </a:r>
          </a:p>
          <a:p>
            <a:pPr>
              <a:defRPr sz="1600"/>
            </a:pPr>
            <a:r>
              <a:t>Interactive viz (Plotly): hover-to-highlight supports figure–ground and preattentive cues.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Perception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Preattentive Processing — use color, size, and shape to draw rapid attention.</a:t>
            </a:r>
          </a:p>
          <a:p>
            <a:pPr>
              <a:defRPr sz="1600"/>
            </a:pPr>
            <a:r>
              <a:t>Color Theory — choose palettes for meaning and accessibility.</a:t>
            </a:r>
          </a:p>
          <a:p>
            <a:pPr>
              <a:defRPr sz="1600"/>
            </a:pPr>
            <a:r>
              <a:t>Visual Hierarchy — size, contrast, and placement guide the eye.</a:t>
            </a:r>
          </a:p>
          <a:p>
            <a:pPr>
              <a:defRPr sz="1600"/>
            </a:pPr>
            <a:r>
              <a:t>Balance &amp; Alignment — organization reduces cognitive load.</a:t>
            </a:r>
          </a:p>
          <a:p>
            <a:pPr>
              <a:defRPr sz="1600"/>
            </a:pPr>
            <a:r>
              <a:t>Contrast — differentiate figure from ground.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Colour in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Guidelines: use blue for large regions, red/green for focus areas, black/white/yellow for periphery (conceptual).</a:t>
            </a:r>
          </a:p>
          <a:p>
            <a:pPr>
              <a:defRPr sz="1600"/>
            </a:pPr>
            <a:r>
              <a:t>Retinal limitations: peripheral vision less sensitive to red/green — consider this in design.</a:t>
            </a:r>
          </a:p>
          <a:p>
            <a:pPr>
              <a:defRPr sz="1600"/>
            </a:pPr>
            <a:r>
              <a:t>Activity: Colour activity link: https://color.method.ac/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Glyphs &amp; Visual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Visual variables: position, size, shape, color, orientation, texture.</a:t>
            </a:r>
          </a:p>
          <a:p>
            <a:pPr>
              <a:defRPr sz="1600"/>
            </a:pPr>
            <a:r>
              <a:t>Glyph examples: Chernoff Faces, Star Plots, Glyph Maps (Hadley Wickham).</a:t>
            </a:r>
          </a:p>
          <a:p>
            <a:pPr>
              <a:defRPr sz="1600"/>
            </a:pPr>
            <a:r>
              <a:t>Use glyphs to encode multivariate data carefully — avoid overload.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Blindness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Change blindness: important changes can go unnoticed due to limited attention.</a:t>
            </a:r>
          </a:p>
          <a:p>
            <a:pPr>
              <a:defRPr sz="1600"/>
            </a:pPr>
            <a:r>
              <a:t>Mitigation: animation (smooth transitions), highlighting, and annotations.</a:t>
            </a:r>
          </a:p>
          <a:p>
            <a:pPr>
              <a:defRPr sz="1600"/>
            </a:pPr>
            <a:r>
              <a:t>Show videos/examples: https://www.youtube.com/watch?v=vJG698U2Mvo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Optical Illusions &amp;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Illusions can mislead: ambiguous, distorting, paradoxical illusions affect interpretation.</a:t>
            </a:r>
          </a:p>
          <a:p>
            <a:pPr>
              <a:defRPr sz="1600"/>
            </a:pPr>
            <a:r>
              <a:t>Avoid misleading scales, perspective tricks, and complex patterns that create Moiré/vibratory effects.</a:t>
            </a:r>
          </a:p>
          <a:p>
            <a:pPr>
              <a:defRPr sz="1600"/>
            </a:pPr>
            <a:r>
              <a:t>Test visuals with diverse viewers to spot unintended illusions.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Bertin's Retinal Variables (Semiology)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Position, Size, Value (lightness), Texture, Color (Hue), Orientation, Shape.</a:t>
            </a:r>
          </a:p>
          <a:p>
            <a:pPr>
              <a:defRPr sz="1600"/>
            </a:pPr>
            <a:r>
              <a:t>Position is most effective for quantitative comparison; hue is best for categories.</a:t>
            </a:r>
          </a:p>
          <a:p>
            <a:pPr>
              <a:defRPr sz="1600"/>
            </a:pPr>
            <a:r>
              <a:t>Combine variables thoughtfully: size for magnitude, hue for identity.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Associative vs Dissociative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Associative: visuals closely related to data (icons, pictograms).</a:t>
            </a:r>
          </a:p>
          <a:p>
            <a:pPr>
              <a:defRPr sz="1600"/>
            </a:pPr>
            <a:r>
              <a:t>Dissociative: abstract forms needing a legend (geometric shapes, color blocks).</a:t>
            </a:r>
          </a:p>
          <a:p>
            <a:pPr>
              <a:defRPr sz="1600"/>
            </a:pPr>
            <a:r>
              <a:t>Choose approach based on audience familiarity and task.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Vibratory Effect &amp; Chartjunk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Dense repetitive patterns can cause 'vibration' or Moiré effects.</a:t>
            </a:r>
          </a:p>
          <a:p>
            <a:pPr>
              <a:defRPr sz="1600"/>
            </a:pPr>
            <a:r>
              <a:t>Cause: spacing near visual resolution limits; effect distracts from data.</a:t>
            </a:r>
          </a:p>
          <a:p>
            <a:pPr>
              <a:defRPr sz="1600"/>
            </a:pPr>
            <a:r>
              <a:t>Remedy: reduce density, add jitter, change mark shapes, simplify design.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Exercises &amp; Classroom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1) Rework a messy chart using Gestalt principles; present before/after.</a:t>
            </a:r>
          </a:p>
          <a:p>
            <a:pPr>
              <a:defRPr sz="1600"/>
            </a:pPr>
            <a:r>
              <a:t>2) Colour exercise: choose accessible palettes and justify choices.</a:t>
            </a:r>
          </a:p>
          <a:p>
            <a:pPr>
              <a:defRPr sz="1600"/>
            </a:pPr>
            <a:r>
              <a:t>3) Glyph design: map a 4-variable dataset to glyphs and defend variable mapping.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Bertin — Semiology of Graphics (excerpt PDF)</a:t>
            </a:r>
          </a:p>
          <a:p>
            <a:pPr>
              <a:defRPr sz="1600"/>
            </a:pPr>
            <a:r>
              <a:t>John Stasko — Visual Perception lecture notes (Georgia Tech)</a:t>
            </a:r>
          </a:p>
          <a:p>
            <a:pPr>
              <a:defRPr sz="1600"/>
            </a:pPr>
            <a:r>
              <a:t>Alberto Cairo — The Functional Art (sample pages)</a:t>
            </a:r>
          </a:p>
          <a:p>
            <a:pPr>
              <a:defRPr sz="1600"/>
            </a:pPr>
            <a:r>
              <a:t>Preattentive &amp; Gestalt slides, and online articles (links provided)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Share Colab notebook and starter datasets on LMS.</a:t>
            </a:r>
          </a:p>
          <a:p>
            <a:pPr>
              <a:defRPr sz="1600"/>
            </a:pPr>
            <a:r>
              <a:t>Run in-class demo: reworking charts with Gestalt improvements.</a:t>
            </a:r>
          </a:p>
          <a:p>
            <a:pPr>
              <a:defRPr sz="1600"/>
            </a:pPr>
            <a:r>
              <a:t>Collect student submissions and run peer critiques.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